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373" r:id="rId3"/>
    <p:sldId id="551" r:id="rId5"/>
    <p:sldId id="578" r:id="rId6"/>
    <p:sldId id="611" r:id="rId7"/>
    <p:sldId id="596" r:id="rId8"/>
    <p:sldId id="598" r:id="rId9"/>
    <p:sldId id="599" r:id="rId10"/>
    <p:sldId id="600" r:id="rId11"/>
    <p:sldId id="601" r:id="rId12"/>
    <p:sldId id="603" r:id="rId13"/>
    <p:sldId id="604" r:id="rId14"/>
    <p:sldId id="605" r:id="rId15"/>
    <p:sldId id="606" r:id="rId16"/>
    <p:sldId id="607" r:id="rId17"/>
    <p:sldId id="608" r:id="rId18"/>
    <p:sldId id="609" r:id="rId19"/>
    <p:sldId id="610" r:id="rId20"/>
    <p:sldId id="371" r:id="rId21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A1"/>
    <a:srgbClr val="0054A6"/>
    <a:srgbClr val="FFFFFF"/>
    <a:srgbClr val="2B2B2B"/>
    <a:srgbClr val="004EA2"/>
    <a:srgbClr val="404040"/>
    <a:srgbClr val="DEEBF7"/>
    <a:srgbClr val="E9EDED"/>
    <a:srgbClr val="333F50"/>
    <a:srgbClr val="454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718" autoAdjust="0"/>
  </p:normalViewPr>
  <p:slideViewPr>
    <p:cSldViewPr snapToGrid="0" showGuides="1">
      <p:cViewPr varScale="1">
        <p:scale>
          <a:sx n="91" d="100"/>
          <a:sy n="91" d="100"/>
        </p:scale>
        <p:origin x="370" y="67"/>
      </p:cViewPr>
      <p:guideLst>
        <p:guide orient="horz" pos="2082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.xml"/><Relationship Id="rId27" Type="http://schemas.openxmlformats.org/officeDocument/2006/relationships/customXml" Target="../customXml/item1.xml"/><Relationship Id="rId26" Type="http://schemas.openxmlformats.org/officeDocument/2006/relationships/customXmlProps" Target="../customXml/itemProps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D8579-9DC9-43DE-9734-F6933A2635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8D12F-8D06-491F-97FB-2D843C1939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61B46-F626-455F-95A1-43140BCA9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9011" y="136525"/>
            <a:ext cx="1817052" cy="4345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90349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1" name="Group 181"/>
          <p:cNvGraphicFramePr/>
          <p:nvPr userDrawn="1"/>
        </p:nvGraphicFramePr>
        <p:xfrm>
          <a:off x="515939" y="1084617"/>
          <a:ext cx="11160123" cy="1419568"/>
        </p:xfrm>
        <a:graphic>
          <a:graphicData uri="http://schemas.openxmlformats.org/drawingml/2006/table">
            <a:tbl>
              <a:tblPr/>
              <a:tblGrid>
                <a:gridCol w="1651802"/>
                <a:gridCol w="1175841"/>
                <a:gridCol w="4608261"/>
                <a:gridCol w="1569230"/>
                <a:gridCol w="2154989"/>
              </a:tblGrid>
              <a:tr h="373756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文档编号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R-SXX-XXX-VX.X                                                                                                                                                  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最后修订日期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YYYY-MM-DD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5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日期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模板版本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修订说明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创建人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</a:tr>
              <a:tr h="33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20XX-XX-XX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V1.0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修订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xx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 userDrawn="1"/>
        </p:nvSpPr>
        <p:spPr>
          <a:xfrm>
            <a:off x="417724" y="590779"/>
            <a:ext cx="2317988" cy="30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28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Historical Revision Summary</a:t>
            </a:r>
            <a:endParaRPr lang="zh-CN" altLang="en-US" sz="128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Rectangle 2"/>
          <p:cNvSpPr/>
          <p:nvPr userDrawn="1"/>
        </p:nvSpPr>
        <p:spPr>
          <a:xfrm>
            <a:off x="500074" y="236521"/>
            <a:ext cx="2250386" cy="4111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b="1" kern="1200">
                <a:solidFill>
                  <a:srgbClr val="003399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历史更新记录</a:t>
            </a:r>
            <a:endParaRPr lang="en-US" altLang="zh-TW" sz="2800" dirty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62627" y="140023"/>
            <a:ext cx="1372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目录</a:t>
            </a:r>
            <a:endParaRPr kumimoji="1"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2105-9658-4E17-9857-105095BC4E0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: 圆角 10"/>
          <p:cNvSpPr/>
          <p:nvPr userDrawn="1"/>
        </p:nvSpPr>
        <p:spPr>
          <a:xfrm>
            <a:off x="2341" y="199882"/>
            <a:ext cx="416938" cy="410542"/>
          </a:xfrm>
          <a:prstGeom prst="roundRect">
            <a:avLst>
              <a:gd name="adj" fmla="val 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19279" y="192509"/>
            <a:ext cx="11231546" cy="4852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19618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004EA2"/>
              </a:buClr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152707" y="641540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内容占位符 2"/>
          <p:cNvSpPr txBox="1"/>
          <p:nvPr userDrawn="1"/>
        </p:nvSpPr>
        <p:spPr>
          <a:xfrm>
            <a:off x="21484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EA2"/>
              </a:buClr>
              <a:buFont typeface="Wingdings 2" panose="05020102010507070707" pitchFamily="18" charset="2"/>
              <a:buChar char=""/>
              <a:defRPr sz="1600" kern="1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标题 1"/>
          <p:cNvSpPr txBox="1"/>
          <p:nvPr userDrawn="1"/>
        </p:nvSpPr>
        <p:spPr>
          <a:xfrm>
            <a:off x="419279" y="192511"/>
            <a:ext cx="4756288" cy="5866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404040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-9525" y="1491615"/>
            <a:ext cx="12192000" cy="1419860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42463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 algn="ctr"/>
            <a:r>
              <a:rPr lang="en-US" altLang="zh-CN" sz="5400" b="1" dirty="0">
                <a:solidFill>
                  <a:schemeClr val="bg1"/>
                </a:solidFill>
              </a:rPr>
              <a:t>Vanilla VoWiFi ECC</a:t>
            </a:r>
            <a:r>
              <a:rPr lang="zh-CN" altLang="en-US" sz="5400" b="1" dirty="0">
                <a:solidFill>
                  <a:schemeClr val="bg1"/>
                </a:solidFill>
              </a:rPr>
              <a:t>问题复盘总结</a:t>
            </a:r>
            <a:r>
              <a:rPr lang="zh-CN" altLang="en-US" sz="5400" b="1" dirty="0">
                <a:solidFill>
                  <a:schemeClr val="bg1"/>
                </a:solidFill>
              </a:rPr>
              <a:t>分析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9747885" y="6003925"/>
            <a:ext cx="1604645" cy="657225"/>
          </a:xfrm>
          <a:prstGeom prst="rect">
            <a:avLst/>
          </a:prstGeom>
        </p:spPr>
        <p:txBody>
          <a:bodyPr>
            <a:normAutofit fontScale="9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rgbClr val="585D4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2026.01.1</a:t>
            </a:r>
            <a:r>
              <a:rPr lang="x-none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x-none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spcAft>
                <a:spcPts val="600"/>
              </a:spcAft>
            </a:pPr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问题描述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 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DEFECT DESCRIPTION      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2025-12-21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VANILLA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】【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NZ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 ECC 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无法拨通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defect from VANILLA-2755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REPRODUCING PROCEDURES: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53024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warehouse) SIM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，（由于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53024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虚拟子网较多，这里挑选了一个测试）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，拨打紧急电话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ACTUAL BEHAVIOUR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vowifi ECC 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无法拨通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EXPECTED BEHAVIOUR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vowifi ECC 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应该拨通（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MTK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对比可以拨通）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ASSOCIATE SPECIFICATION: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 :https://jira.tcl.com/plugins/servlet/jeditor_file_provider?imgId=ckupload202512214167891186541423191&amp;fileName=vanilla-53024warehouse-vowifiecc.7z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问题流转</a:t>
            </a:r>
            <a:endParaRPr lang="zh-CN" altLang="en-US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pic>
        <p:nvPicPr>
          <p:cNvPr id="10" name="ECB019B1-382A-4266-B25C-5B523AA43C14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2268855"/>
            <a:ext cx="11105515" cy="1778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8" name="表格 137"/>
          <p:cNvGraphicFramePr/>
          <p:nvPr/>
        </p:nvGraphicFramePr>
        <p:xfrm>
          <a:off x="970280" y="664845"/>
          <a:ext cx="10598150" cy="5673090"/>
        </p:xfrm>
        <a:graphic>
          <a:graphicData uri="http://schemas.openxmlformats.org/drawingml/2006/table">
            <a:tbl>
              <a:tblPr firstRow="1" firstCol="1" bandRow="1"/>
              <a:tblGrid>
                <a:gridCol w="1613535"/>
                <a:gridCol w="8984615"/>
              </a:tblGrid>
              <a:tr h="303530">
                <a:tc>
                  <a:txBody>
                    <a:bodyPr/>
                    <a:lstStyle/>
                    <a:p>
                      <a:r>
                        <a:rPr sz="1400" b="1" i="0" u="none" strike="noStrike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时间</a:t>
                      </a:r>
                      <a:endParaRPr sz="1400" b="1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 u="none" strike="noStrike" dirty="0" err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/>
                        </a:rPr>
                        <a:t>事件</a:t>
                      </a:r>
                      <a:endParaRPr sz="1400" b="1" i="0" u="none" strike="noStrike" dirty="0" err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</a:tr>
              <a:tr h="7073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2025-12-22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  <a:p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4A6"/>
                        </a:buClr>
                        <a:buSzTx/>
                        <a:buFont typeface="Wingdings" panose="05000000000000000000" charset="0"/>
                        <a:buNone/>
                        <a:defRPr/>
                      </a:pP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Dahlia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上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实验室反馈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问题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VoWiFi ECC 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无法拨通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抓取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份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)</a:t>
                      </a:r>
                      <a:b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内部分析：需求更新，当前参数不满足需求，更新参数后验证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pass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，但仍存在呼出慢的问题，原因：注册较慢导致。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4A6"/>
                        </a:buClr>
                        <a:buSzTx/>
                        <a:buFont typeface="Wingdings" panose="05000000000000000000" charset="0"/>
                        <a:buNone/>
                        <a:defRPr/>
                      </a:pP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SPCSS01604103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分析：需要升级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Modem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解决，与实验室测试沟通，注册成功后等待一段时间再呼出，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TCL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接受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71882" marR="71882" marT="33147" marB="33147">
                    <a:lnL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6">
                      <a:solidFill>
                        <a:srgbClr val="D0D7DE"/>
                      </a:solidFill>
                    </a:lnR>
                    <a:lnT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2025-12-27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>
                          <a:srgbClr val="0054A6"/>
                        </a:buClr>
                        <a:buFont typeface="Wingdings" panose="05000000000000000000" charset="0"/>
                        <a:buNone/>
                      </a:pP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Vallina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实网测试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反馈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VoWiFi ECC  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无法拨通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抓取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份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71882" marR="71882" marT="33147" marB="33147">
                    <a:lnL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6">
                      <a:solidFill>
                        <a:srgbClr val="D0D7DE"/>
                      </a:solidFill>
                    </a:lnR>
                    <a:lnT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2025-12-28</a:t>
                      </a:r>
                      <a:endParaRPr lang="en-US" altLang="en-US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Clr>
                          <a:srgbClr val="0054A6"/>
                        </a:buClr>
                        <a:buFont typeface="Wingdings" panose="05000000000000000000" charset="0"/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麦博内部分析，内部怀疑是缺少国家码参数引起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882" marR="71882" marT="33147" marB="33147">
                    <a:lnL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466">
                      <a:solidFill>
                        <a:srgbClr val="D0D7DE"/>
                      </a:solidFill>
                    </a:lnR>
                    <a:lnT w="8466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2025-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12</a:t>
                      </a:r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-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29</a:t>
                      </a:r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 </a:t>
                      </a:r>
                      <a:endParaRPr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提问展锐分析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SPCSS01606427</a:t>
                      </a:r>
                      <a:b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</a:b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REF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和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DUT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参数对比，有很多差异，主要怀疑是位置信息未携带导致的问题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1331595">
                <a:tc>
                  <a:txBody>
                    <a:bodyPr/>
                    <a:lstStyle/>
                    <a:p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2025-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12</a:t>
                      </a:r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-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3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0~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  <a:p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2025-12-31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为了验证上面的猜测，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提供两个版本给客户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，结果都验证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fail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抓取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份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14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版本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：注册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WFC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时未携带位置信息，但打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ECC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时有携带位置信息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版本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：两个都没位置信息。</a:t>
                      </a:r>
                      <a:b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展锐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AP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分析：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版本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更新位置信息的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AT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下发慢了</a:t>
                      </a:r>
                      <a:b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版本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2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更新位置信息的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AT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没有下发</a:t>
                      </a:r>
                      <a:endParaRPr lang="zh-CN" altLang="en-US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CFCFC"/>
                    </a:solidFill>
                  </a:tcPr>
                </a:tc>
              </a:tr>
              <a:tr h="1330960">
                <a:tc>
                  <a:txBody>
                    <a:bodyPr/>
                    <a:lstStyle/>
                    <a:p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6</a:t>
                      </a:r>
                      <a:r>
                        <a:rPr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-01-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04~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  <a:p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2026-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</a:rPr>
                        <a:t>01-06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展锐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AP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：添加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分析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AT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下发慢和没下发的原因（</a:t>
                      </a:r>
                      <a:r>
                        <a:rPr lang="zh-CN" altLang="en-US" sz="1400" b="0" i="0" u="none" strike="noStrike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抓取</a:t>
                      </a: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400" b="0" i="0" u="none" strike="noStrike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份</a:t>
                      </a:r>
                      <a:r>
                        <a:rPr lang="en-US" altLang="zh-CN" sz="1400" b="0" i="0" u="none" strike="noStrike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） 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-&gt;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log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没有收到定位，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network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定位由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gms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提供，转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GMS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模块继续分析</a:t>
                      </a:r>
                      <a:b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展锐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GMS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：要求提供登录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Google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账户、打开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Location Accuracy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抓取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ylog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和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bugreport(</a:t>
                      </a:r>
                      <a:r>
                        <a:rPr lang="zh-CN" alt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抓取</a:t>
                      </a:r>
                      <a:r>
                        <a:rPr lang="en-US" altLang="zh-CN" sz="1400" b="0" i="0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</a:t>
                      </a:r>
                      <a:r>
                        <a:rPr lang="zh-CN" altLang="en-US" sz="1400" b="0" i="0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份</a:t>
                      </a:r>
                      <a:r>
                        <a:rPr lang="en-US" altLang="zh-CN" sz="1400" b="0" i="0" kern="120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log</a:t>
                      </a:r>
                      <a:r>
                        <a:rPr lang="en-US" altLang="zh-CN" sz="1400" b="0" i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)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  -&gt;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没有抓到定位过程，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log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显示位置信息未改变</a:t>
                      </a:r>
                      <a:b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展锐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Modem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：工模下发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AT+RESET=1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，重启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modem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，导致位置信息丢失</a:t>
                      </a:r>
                      <a:b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</a:b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展锐工模：用户手动操作下发的，避免下发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RESET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，工模进行了客制化修改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(</a:t>
                      </a:r>
                      <a:r>
                        <a:rPr lang="zh-CN" altLang="en-US" sz="1400" b="0" i="0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抓取</a:t>
                      </a:r>
                      <a:r>
                        <a:rPr lang="en-US" altLang="zh-CN" sz="1400" b="0" i="0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1</a:t>
                      </a:r>
                      <a:r>
                        <a:rPr lang="zh-CN" altLang="en-US" sz="1400" b="0" i="0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份</a:t>
                      </a:r>
                      <a:r>
                        <a:rPr lang="en-US" altLang="zh-CN" sz="1400" b="0" i="0" kern="12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log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)</a:t>
                      </a:r>
                      <a:endParaRPr lang="en-US" altLang="zh-C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+mn-cs"/>
                        <a:sym typeface="+mn-ea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94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等线" panose="02010600030101010101" charset="-122"/>
                          <a:sym typeface="+mn-ea"/>
                        </a:rPr>
                        <a:t>2026-01-07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  <a:p>
                      <a:pPr>
                        <a:buNone/>
                      </a:pPr>
                      <a:endParaRPr lang="en-US" altLang="zh-CN" sz="1400" b="1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等线" panose="02010600030101010101" charset="-122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强制要求完全要与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MTK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参数保持一致，验证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pass</a:t>
                      </a:r>
                      <a:r>
                        <a:rPr lang="en-US" altLang="zh-CN" sz="14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(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抓取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份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en-US" altLang="zh-CN" sz="14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b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最终原因：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SIP Log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中缺少</a:t>
                      </a:r>
                      <a:r>
                        <a:rPr lang="en-US" altLang="zh-CN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PCNI</a:t>
                      </a: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和国家码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修复方案：添加相关参数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71882" marR="71882" marT="33147" marB="33147">
                    <a:lnL w="8466">
                      <a:solidFill>
                        <a:srgbClr val="D0D7DE"/>
                      </a:solidFill>
                    </a:lnL>
                    <a:lnR w="8466">
                      <a:solidFill>
                        <a:srgbClr val="D0D7DE"/>
                      </a:solidFill>
                    </a:lnR>
                    <a:lnT w="8466">
                      <a:solidFill>
                        <a:srgbClr val="D0D7DE"/>
                      </a:solidFill>
                    </a:lnT>
                    <a:lnB w="8466">
                      <a:solidFill>
                        <a:srgbClr val="D0D7D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分析过程</a:t>
            </a:r>
            <a:endParaRPr lang="zh-CN" altLang="en-US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1---MODEM 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20251230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测试机收到网络给的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380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，导致电话失败，对比机看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没有收到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380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，电话在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拨打成功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    134254-1    11:36:34.519    --    ATC: ATC_RecNewLineSig,link_id:5,sim:1,len:13,line:ATD111@7,#i;    ATC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    138028-1    11:36:36.289    --    IMS: msg -&gt; [1]INVITE    SIP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    138240-1    11:36:36.351    --    IMS: msg &lt;- [1]100    SIP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    138300-1    11:36:36.421    --    IMS: msg &lt;- [1]380    SIP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115    138314-1    11:36:36.422    --    IMS: msg -&gt; [1]ACK    SIP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    138404-1    11:36:36.425    --    mn_al[1]: MN &lt;-- CSM,CSM_EVENT_TYPE_CALL[0],CSM_OUTPUT_REASON_ERROR[1]    MN_AL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    138441-1    11:36:36.426    --    mn_al[1]: MN &lt;-- CSM,CSM_EVENT_TYPE_CALL[0],CSM_OUTPUT_REASON_DISCONNECT_EVENT[3]    MN_AL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119    138626-1    11:36:36.427    --    ATC: BuildUnsolicitedInfo, link_id:4, sim:1, len:30, string: ^DSCI: 1,0,6,1,0,111,129,,1380    ATC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需要对比发送给网络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信息差异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3505200"/>
            <a:ext cx="8743950" cy="1495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2---MODEM 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20251231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比较测试机和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MTK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对比机发的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，有如下差异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怀疑是测试机位置信息没有携带导致，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MTK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对比机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注册有位置信息且是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Circle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提供两个版本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，验证位置信息，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wifi_regwithLocation(VOWIFI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注册位置信息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locationType(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isTakePCNI(PCNI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type)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ylog_20251231_TST_ONE01_Vowifi ECC Fail.zip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ylog_20251231_TST_SEC01_Vowifi ECC fail.zip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45" y="1647825"/>
            <a:ext cx="5829300" cy="27273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50" y="1647825"/>
            <a:ext cx="5886450" cy="3238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5" y="1971675"/>
            <a:ext cx="5533390" cy="2402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3---MODEM 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20251231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第一个方案和第二个方案差异只在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头域，理论上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的注册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紧急电话的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都应该带上位置信息。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）第一个方案的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没有带上位置信息，原因是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注册以后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才下发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AT+SPLOCINFO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更新位置信息，前面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没有下发，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拿不到，所以没有带在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上，带在了之后的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SIM2    IMS       --    -&gt; [1]INVITE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From: &lt;tel:+64221974083&gt;;tag=ANtAeI1UUJ5i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To: &lt;urn:service:sos.police&gt;             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P-Access-Network-Info: IEEE-802.11;i-wlan-node-id=c274adafcf65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Geolocation: &lt;cid:14331.0@ims.mnc024.mcc530.3gppnetwork.org&gt;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Geolocation-Routing: yes                 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16:58:53.052     &lt;?xml version="1.0" encoding="UTF-8"?&gt;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）第二个方案的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都没有带上位置信息，原因是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没有下发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AT+SPLOCINFO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16:39:55.212     SIM2    IMS       --    -&gt; [1]INVITE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16:39:55.212     Time: 4859 From: &lt;tel:+64221974083&gt;;tag=IUHetQ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16:39:55.212     Time: 4859 To: &lt;urn:service:sos.police&gt;  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16:39:55.212     Time: 4859 P-Access-Network-Info: IEEE-802.11;i-wlan-node-id=c274adafcf65   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先帮忙看下（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）第一个方案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AT+SPLOCINFO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下发的晚和（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）第二个方案没有下发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AT+SPLOCINFO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的原因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4---AP 20260104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测试机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注册时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未收到位置信息，拨打电话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才收到位置信息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R0359E5  12-31 16:58:12.223   691  6639 D RIL-AT  : Channel3: AT&lt; +WFIMSATT: 2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R0365D2  12-31 16:58:14.847   691  6639 D RIL-AT  : Channel3: AT&lt; +WFIMSATT: 1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R0365D8  12-31 16:58:14.849   691  6639 D RIL-AT  : Channel3: AT&lt; +CIREGU: 2,0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R036713  12-31 16:58:15.233   691  6639 D RIL-AT  : Channel3: AT&lt; +CIREGU: 1,0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此时才收到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handleMessage msg: 3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M03689C  12-31 16:58:15.480  1381  1381 D UniLocationManager: handleMessage msg: 3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M03689D  12-31 16:58:15.481  1381  1381 D UniLocationManager: handleSendLocationResult: exception = false, result = request_not_support, phoneId = 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M03689E  12-31 16:58:15.481  1381  1381 D UniLocationManager: handleMessage msg: 3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M03689F  12-31 16:58:15.481  1381  1381 D UniLocationManager: handleSendLocationResult: exception = false, result = request_not_support, phoneId = 1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M0368A0  12-31 16:58:15.481  1381  1903 D UniLocationManager: UniLocationManager.LocationHandler handleMessage msg: 5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M036933  12-31 16:58:15.513  1381  1903 D UniLocationManager: getMacAddress wifiState = 3 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查看耗时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提供一个版本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，请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同事先帮忙看下为何没有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位置信息的上报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ylog_20260105_Vanilla_2degrees_vowifi ECC fail_debugtest.zip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5---GMS 20250105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麻烦测试前先确认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执行几个事项：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、登录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settings -&gt; Location -&gt; Location Services -&gt; Location Accuracy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打开，如果有恢复出厂，在恢复出厂阶段也要默认开启这项；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location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服务的记录来看，视频时间后没有执行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request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提供一个版本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，请</a:t>
            </a:r>
            <a:r>
              <a: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同事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看看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ylog_20260105_Vanilla_2D_Vowifi ECC fail_sign in google account.zip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云形 4"/>
          <p:cNvSpPr/>
          <p:nvPr/>
        </p:nvSpPr>
        <p:spPr>
          <a:xfrm>
            <a:off x="9394190" y="2210435"/>
            <a:ext cx="2256155" cy="1866265"/>
          </a:xfrm>
          <a:prstGeom prst="clou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与</a:t>
            </a:r>
            <a:r>
              <a:rPr lang="en-US" altLang="zh-CN" sz="1600"/>
              <a:t>TCL</a:t>
            </a:r>
            <a:r>
              <a:rPr lang="zh-CN" altLang="en-US" sz="1600"/>
              <a:t>沟通后，确认位置服务默认打开，对比机和测试机都没有登陆</a:t>
            </a:r>
            <a:r>
              <a:rPr lang="en-US" altLang="zh-CN" sz="1600"/>
              <a:t>google</a:t>
            </a:r>
            <a:endParaRPr lang="en-US" altLang="zh-CN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6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---AP 20260106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收到定位信息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M015E89  01-05 19:55:02.037  1119  2417 I LocationManagerService: incoming location: locationResult [[Location[network -36.854909, 174.762313 hAcc=100.0 et=+7h23m15s98ms alt=99.4000015258789 vAcc=68.81949 {Bundle[{verticalAccuracy=5.8142385}]}]]]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应是已经发送过了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M016ACB  01-05 19:55:26.207  1393  1393 D UniLocationManager: setSosLocation: The location has not changed, not send location information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R048950  01-05 19:59:22.721   693 26085 D RIL-AT  : Channel3: AT&lt; +WFIMSATT: 2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R04A0D2  01-05 19:59:28.191   693 26085 D RIL-AT  : Channel3: AT&lt; +WFIMSATT: 1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R04A0D5  01-05 19:59:28.191   693 26085 D RIL-AT  : Channel3: AT&lt; +CIREGU: 2,0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R04A2A6  01-05 19:59:28.838   693 26085 D RIL-AT  : Channel3: AT&lt; +CIREGU: 1,0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拨号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R04CC3C  01-05 19:59:36.954   693   714 D RIL-AT  : Channel4: AT&gt; ATD111@7,#i;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看下这份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是否携带了定位信息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7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---MODEM 20260106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 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里看，客户修改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是成功的，但是从做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注册开始，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一直没有下发过位置信息指令，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紧急电话的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INVITE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没有带位置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xml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信息，怀疑还是定位失败，提供的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参数修改没有问题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19:59:29.025     19:59:29.025     regwithLocation: 0, withLocation: 0, sosWithLocation: 1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19:59:29.025     19:59:29.025     wifi_regwithLocation 1, wifi_withLocation 0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19:59:29.025    --    locationType:15    CSM     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19:59:29.148     SIM2    IMS       --    -&gt; [1]REGISTER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19:59:29.148     From: &lt;sip:530240208785063@ims.mnc024.mcc530.3gppnetwork.org&gt;;tag=a2fJtGneHBYMz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19:59:29.148     P-Access-Network-Info: IEEE-802.11;i-wlan-node-id=c274adafcf65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提供一个版本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，包含开机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过程，请</a:t>
            </a:r>
            <a:r>
              <a: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看看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ylog_20260106_Vanilla_2D vowifi ECC call end_location.zip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8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---AP 20260106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中两卡都下发了位置信息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下发位置信息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R034489  01-06 19:52:07.017   690   713 D RIL     : ATcmd=AT+SPLOCINFO="174.7624","-36.8549","99.6000","14.3290","c2:74:ad:af:cf:65","NZ,Auckland,Auckland,Auckland Central,,1010","14.3290,14.3290,3.6533,90","Hybrid_A-GPS" in requestSendAT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R03448C  01-06 19:52:07.017   690   713 D RIL-AT  : Channel4: AT&gt; AT+SPLOCINFO="174.7624","-36.8549","99.6000","14.3290","c2:74:ad:af:cf:65","NZ,Auckland,Auckland,Auckland Central,,1010","14.3290,14.3290,3.6533,90","Hybrid_A-GPS"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R03448E  01-06 19:52:07.019   690   920 D RIL-AT  : Channel4: AT&lt; OK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R07511D  01-06 19:56:52.226   690  7774 D RIL-AT  : Channel3: AT&lt; +WFIMSATT: 2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R078A38  01-06 19:57:08.199   690  7774 D RIL-AT  : Channel3: AT&lt; +WFIMSATT: 3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R07D5A5  01-06 19:57:38.950   690  7774 D RIL-AT  : Channel3: AT&lt; +WFIMSATT: 2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R07E170  01-06 19:57:41.683   690  7774 D RIL-AT  : Channel3: AT&lt; +WFIMSATT: 1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R07E174  01-06 19:57:41.685   690  7774 D RIL-AT  : Channel3: AT&lt; +CIREGU: 2,0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R07E724  01-06 19:57:42.950   690  7774 D RIL-AT  : Channel3: AT&lt; +CIREGU: 0,0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拨号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R087112  01-06 19:58:13.990   690   711 D RIL-AT  : Channel4: AT&gt; ATD111@7,#i;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</a:t>
            </a:r>
            <a:r>
              <a:rPr 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看看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9---MODEM 20260106</a:t>
            </a:r>
            <a:endParaRPr lang="en-US" altLang="zh-CN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下发位置信息，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会保存到全局变量中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19:52:07.914    --    ATC: ATC_RecNewLineSig,link_id:5,sim:1,len:164,line:AT+SPLOCINFO="174.7624","-36.8549","99.6000","14.3290","c2:74:ad:af:cf:65","NZ,Auckland,Auckland,Auckland     ATC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19:52:07.914    --    IMS: MN-&gt;CSM[1] CSM_EVENT_TYPE_SERVICE CSM_SERVICE_REASON_UPDATE_LOCATION_INFO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19:52:07.914    --    [LocationInfo]: latitude info:-36.8549,longitude info:174.7624, altitude:99.6000    CSM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19:52:07.914    --    [LocationInfo]: radius:14.3290, mac:c2:74:ad:af:cf:65, civic_info:NZ,Auckland,Auckland,Auckland Central,,1010    CSM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19:52:07.914    --    [LocationInfo]: reset locationType:15    CSM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19:52:07.914    --    [LocationInfo]: ellipsoid_info:14.3290,14.3290,3.6533,90, method:Hybrid_A-GPS    CSM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//AT+RESET=1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，触发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 task init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，全局被初始化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509487-1    19:52:12.990    --    ATC: ATC_RecNewLineSig,link_id:5,sim:1,len:11,line:AT+RESET=1    ATC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8-15           19:52:12.990     19:52:12.990     POWER_PowerOn !!!                                                                                                                                                                   0:04:08.653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    1084-1    19:52:15.885    --    Time: 9 _VPR_vpmdSendTask: Started...    VPR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    1333-13    19:52:15.899    --    Time: 9 srmi init: main task ID - 0xea  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确认下，为什么在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19:52:12.990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AT+RESET=1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，重启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，触发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 task init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，所有全局变量均被初始化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10---AP </a:t>
            </a:r>
            <a:r>
              <a:rPr lang="en-US" altLang="zh-CN" sz="2800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20260107</a:t>
            </a:r>
            <a:endParaRPr lang="en-US" altLang="zh-CN" sz="2800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tele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AT+RESET=1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，像是工模的进程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tele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下发，像是工模的进程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M035892  01-06 19:52:12.083  6056  6056 D VRI[EngineerModeActivity]: Creating new active sync group VRI[EngineerModeActivity]#23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M03590F  01-06 19:52:12.153  6056  7718 D IATUtils: send AT: AT+RESET=1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M035911  01-06 19:52:12.155  6056  7718 D SocketUtils: getPropThroughAidl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M035912  01-06 19:52:12.155  6056  7718 D LogControlAidl: LogControlAidl sendCmd:AT+RESET=1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请工模看下为何下发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AT+RESET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11---</a:t>
            </a:r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工模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 </a:t>
            </a:r>
            <a:r>
              <a:rPr lang="en-US" altLang="zh-CN" sz="2800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20260107</a:t>
            </a:r>
            <a:endParaRPr lang="en-US" altLang="zh-CN" sz="2800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5G modem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AT+RESET=0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，请进行如下修改（注意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13vnd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是修改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VND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EngineerMode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代码）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、回退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SPCSS01471977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、合入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comment32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提供的修改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提供一个版本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，等待修改后版本的复测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以便进一步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ylog_20260107_Dahlia_2degrees_Vowifi ECC_debug fail.zip(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萨瑞修改有误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12---MODEM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 </a:t>
            </a:r>
            <a:r>
              <a:rPr lang="en-US" altLang="zh-CN" sz="2800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20260107</a:t>
            </a:r>
            <a:endParaRPr lang="en-US" altLang="zh-CN" sz="2800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请先配置如下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后再做复测，测试步骤是先连接上蜂窝网，再注册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，再同卡同地点拨打紧急电话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复测反馈，提供从开机开始到电话结束的完整的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modem 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，谢谢。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NZ_2degrees.nv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OPERATOR_NV_MN\mn_vowifi_ecc\vowifi_ecc\vowifi_ecc[0]=2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vowifi_ecc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表示在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注册时优先走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紧急电话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【方案一】带上最有可能的差异修改，位置信息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+PCNI+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国家码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+UA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【方案二】带上所有差异修改，方案一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+SDP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提供三个版本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，等待修改后版本的复测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以便进一步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T452MVA8Y_TST_PLAN0101.zip  T452MVA8Y_TST_PLAN0201.zip  T452MVA8Y_TST_PLAN0301.zip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问题分析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13---MODEM</a:t>
            </a:r>
            <a:r>
              <a:rPr lang="en-US" altLang="zh-CN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</a:rPr>
              <a:t> </a:t>
            </a:r>
            <a:r>
              <a:rPr lang="en-US" altLang="zh-CN" sz="2800" dirty="0">
                <a:solidFill>
                  <a:srgbClr val="C55A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/>
                <a:ea typeface="等线" panose="02010600030101010101" charset="-122"/>
                <a:sym typeface="+mn-ea"/>
              </a:rPr>
              <a:t>20260107</a:t>
            </a:r>
            <a:endParaRPr lang="en-US" altLang="zh-CN" sz="2800" dirty="0">
              <a:solidFill>
                <a:srgbClr val="C55A1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等线" panose="0201060003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149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6545" y="677545"/>
            <a:ext cx="11494135" cy="560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vowifi_ecc[0]=2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isTakePCNI[0]=4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withCountrycode[0]="NZ"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修改生效，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wifi_regwithLocation=1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locationType=9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由于位置信息没有下发故没有生效，所以与问题无关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12:40:42.406    --    em: get_vowifi_ecc, vowifi prefer:1     MN_AL        //vowifi_ecc[0]=2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生效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12:40:42.415     SIM1    IMS       --    -&gt; [0]INVITE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12:40:42.415     From: &lt;tel:+64221974083&gt;;tag=rg31oRYq   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12:40:42.415     To: &lt;urn:service:sos.police&gt;                                               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12:40:42.415     P-Access-Network-Info: IEEE-802.11;i-wlan-node-id=ee74d725afe9;country=NZ   //withCountrycode[0]="NZ"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                           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12:40:42.415     P-Cellular-Network-Info: 3GPP-E-UTRAN-FDD;utran-cell-id-3gpp=53024ee4a0271817;cell-info-age=180  // isTakePCNI=4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生效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为了确认是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isTakePCNI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withCountrycode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是根因还是两个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都是根因，还请客户做如下两组复测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）只改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PCNI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OPERATOR_NV_MN\mn_vowifi_ecc\vowifi_ecc\vowifi_ecc[0]=2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OPERATOR_NV_IMS\ims_take_pcni\isTakePCNI\isTakePCNI[0]=4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）只改国家码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OPERATOR_NV_MN\mn_vowifi_ecc\vowifi_ecc\vowifi_ecc[0]=2</a:t>
            </a:r>
            <a:endParaRPr lang="en-US" altLang="zh-CN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OPERATOR_NV_IMS\ims_with_countrycode\withCountrycode\withCountrycode[0]="NZ"  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两个版本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，等待修改后版本的复测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以便进一步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Clr>
                <a:srgbClr val="0054A6"/>
              </a:buClr>
              <a:buFont typeface="Wingdings" panose="05000000000000000000" charset="0"/>
              <a:buNone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T452MVA8Y_TST_PCNI01.zip  T452MVA8Y_TST_COUNTRYCODE01.zip</a:t>
            </a:r>
            <a:endParaRPr lang="en-US" altLang="zh-CN" sz="16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云形 4"/>
          <p:cNvSpPr/>
          <p:nvPr/>
        </p:nvSpPr>
        <p:spPr>
          <a:xfrm>
            <a:off x="9112885" y="3563620"/>
            <a:ext cx="2256155" cy="1866265"/>
          </a:xfrm>
          <a:prstGeom prst="clou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验证</a:t>
            </a:r>
            <a:r>
              <a:rPr lang="en-US" altLang="zh-CN" sz="1600"/>
              <a:t>pass</a:t>
            </a:r>
            <a:r>
              <a:rPr lang="zh-CN" altLang="en-US" sz="1600"/>
              <a:t>，</a:t>
            </a:r>
            <a:r>
              <a:rPr lang="en-US" sz="1600"/>
              <a:t>TCL</a:t>
            </a:r>
            <a:r>
              <a:rPr lang="zh-CN" altLang="en-US" sz="1600"/>
              <a:t>放弃继续验证</a:t>
            </a:r>
            <a:r>
              <a:rPr lang="zh-CN" altLang="en-US" sz="1600"/>
              <a:t>以便定位具体</a:t>
            </a:r>
            <a:r>
              <a:rPr lang="en-US" altLang="zh-CN" sz="1600"/>
              <a:t>NV</a:t>
            </a:r>
            <a:endParaRPr lang="en-US" altLang="zh-CN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2.xml><?xml version="1.0" encoding="utf-8"?>
<p:tagLst xmlns:p="http://schemas.openxmlformats.org/presentationml/2006/main">
  <p:tag name="KSO_WPP_MARK_KEY" val="1f085e02-c75a-484f-a452-b9d77f32e5a0"/>
  <p:tag name="COMMONDATA" val="eyJoZGlkIjoiMDFhY2E0MmViOTgzYjJjZDI3ZmNjMjgxYzRhZDg1NWQifQ==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Dg1ODYwNTU4NDI1IiwKCSJHcm91cElkIiA6ICIzODcwMjY3ODkiLAoJIkltYWdlIiA6ICJpVkJPUncwS0dnb0FBQUFOU1VoRVVnQUFCQUFBQUFDa0NBWUFBQUFKMzF4b0FBQUFBWE5TUjBJQXJzNGM2UUFBSUFCSlJFRlVlSnp0M1h0Y1ZIWDZCL0RQR1VCUjdpaUN0NFJVRUsrTXFGMVUxQXhKMVBLV2htSS84NUtpYnBsYUc2V0xxV2plMWl6elF1WVZMVzNUMUZMVFJEY1VheE5CSlFSa0ZTOHBFWGNHQldIbSsvdERPTXNJS29MTW1ZSFArL1hhMXpLSHc1em40Tk53bnVkOHovY0xFQ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ZEhEU0VvSFFFUlVHM2g1ZVUyV0pHbU0wbkU4Q1VLSXBwSWtPU3NkQnhFWk55SEVuNUlrM1ZJNkRqSmRRb2lkc2JHeFh5Z2RCMUZkb2xJNkFDS2kycUNrK1BkU09vNG5vYVQ0dDFZNkRpSXlhdFpzRkZJMWVkV1d4am1SS1RGWE9nQWlvbG9rTmlZbXBwL1NRVlNYV3EwK0RnQzE0VnlJcUdid2M0S3FxelNIaU1pd09BS0FpSWlJaUlpSXFBNWdBNENJaUlpSWlJaW9EbUFEZ0lpSWlJaUlpS2dPWUFPQWlJaUlpSWlJcUE1Z0E0Q0lpSWlJaUlpb0RtQURnSWlJaUlpSWlLZ09ZQU9BaUlpSWlJaUlxQTVnQTRDSWlJaUlpSWlvRG1BRGdJaUlpSWlJaUtnT1lBT0FpSWlJaUlpSXFBNWdBNENJaUlpSWlJaW9EbUFEZ0lpSWlJaUlpS2dPWUFPQWlJaUlpSWlJcUE1Z0E0Q0lpSWlJaUlpb0RqQlhPZ0FpSWxQazdlM2RWQWp4WnVscklZUXJBSFR0MmpXa2RKc2tTV0hSMGRHM2xJcXhzbXJUdVJBUkVSSFJnN0VCUUVSVU5lbENpSm1TSk5ualhvRmN1bjArN2hYUjJaSWtMVll3dnNkUm04NkZpSWlJaUI2QWp3QVFFVlZCZEhSMEVZRDlRZ2dJSWVUdFpWN3ZMOW5INk5XbWN5RWlJaUtpQjJNRGdJaW9pb1FRZThyY0xaZEprZ1FoeEI1RmdxcWkyblF1UkVSRVJGUXhOZ0NJaUtwSW85RWNGa0pvN3Q4dWhOQm9OSnJEeWtSVk5iWHBYSWlJaUlpb1ltd0FFQkZWVVhKeWNxRWtTUWVoUDF3ZWtpUWRURTVPTGxRNnZzZFJtODZGaUlpSWlDckdCZ0FSVVRWb3RWcTlvZk1sWDV2a2tQbmFkQzVFUkVSRVZCNGJBRVJFMVZCVVZQUURnSUl5bXdvS0NncCtVRENrS3F0TjUwSkVSRVJFNWJFQlFFUlVEZkh4OFJvQWgvRy9DZk9PbEd3ek9iWHBYSWlJaUlpb1BEWUFpSWlxU1FpeHQzVG92S25QbUYrYnpvV0lpSWlJOUxFQlFFUlVUVUtJL1FDMDl4NmoxKzVYT3A3cXFFM25Ra1JFUkVUNjJBQWdJcXFtMk5qWWJDSEVVUURITGx5NGtLVjBQTlZSbTg2RmlJaUlpUFNaS3gwQUVWRnRJSVRZSTBsU3JXaXExcVp6SVNJaUlxTC9rU3F4RDVGUmN2WHMvQ3lFRkFCSmFnVUJPNlhqcWRVazVFQ0lxNURFVnlrWHovK2lkRGhQeXBQTUlRbkNBZ0FFcEtJbkZxQkNhdVJjbUVOVVhjd2hvMkltd1JvQXRBS21NMUVvYzhpb01JZUlsTUVHQUpra1YwK3Y5eUN3Mk56Y3pNeXQxVk5vMU1oUjZaQnF0WXlNVEZ5NWVnM0Z4Vm90Skh5UWNqRjJtZEl4VlJkenlMQ1lRMVJkekNHcUx1WVFWVmR0ekNHcWU0eXlBZENxYlVkUHljek1SeEpTWnlFSkYwbUNuUkNTbWRKeEdRTkpFbG9oa0NNSktWVkk0aHgwdXA5VGtpNGtLQjJYSVQzVnJwTzNDbWEvOW5yK0diTVZTeGJBdVVrVHBVT3FFLzVNK3d1emcrZmlWTlIvdERwb243bVdjQ0ZhNlppcWlqbWtET1lRVlJkemlLcUxPVVRWVlp0eXFDcFlwejJZcWRScFJ0UUE4TFp3OVNpYUpFbFNFQ1NwRXdCWU5XeUlaazFkWUd0bkMzTXo1aFVBRkd1MXlNbkp4YTFicWNpL2ZSc0FJQVRPNnlBK3Y1WndiaE9BWXFWanJHbXVubDZmMURNM2YvdVhuNC9Dd2Q1ZTZYRHFsSXpNTER6WHh4ZEZSZHBQVWhKajMxRTZucXBpRGltSE9VVFZ4UnlpNm1JT1VYWFZsaHlxUE5acGxXRXFkWnBSVEFMbzJyYnpNekFyM2lsSnFxYzdkV2lQSVlOZVF1K2V6OEdqYlJ1bFF6TnFpVW5KaUR3VmhRTUhmK3g4NGZmNERXNmVYdStLWWwxZ3lxWHp2eW9kV3cxemRYVnR4VDkyQ21qazZBQlgxNmR3S2ZseUs2VmpxU2Jta0VLWVExUmR6Q0dxTHVZUVZWY3R5cUZIWXAxV05jWmNweWsreTNNclQ2L3BrcmtxMHNYRitlblBWeTNIZDd2RE1XbjhPQ1pWSlhpNHQ4R2tOMTdIZDd2RHNXYlZNalJwNHRSR01sZEZ0dkwwbXE1MGJEVkt3TTdSZ1gvc2xOTEkwUkdBNUtCMEhOWENIRklVYzRpcWl6bEUxY1Vjb3VxcUZUbjBDS3pUcXM2WTZ6UkZHd0N0UEx3K1ZBRnJlajMvck1XaHZic3gwTzlGU0pJUlBaVmdJaVJKZ3IrZkx3NTl0eHZQUDl2RFFnV3NjVzNYNVgybDR5SWlJaUlpSXRQRE91M0pNTVk2VGJFR2dLdEhsNmtxRlJZTkh1aUhMOWQvQm50N2sxbTF4R2c1Mk50ajg0WTFHUFNTTHlSSld1TFd6bXV5MGpFUkVSRVJFWkhwWUozMjVCbFRuYVpJQThDMWJlZG5KSlgwcVUrdjUvSEo4c1d3TURlS3FRaHFCUXNMQzN5eWZBbDhlajBQU0dLTmE5dk96eWdkRXhFUkVSRVJHVC9XYVRYSFdPbzBnemNBWEYxZExTVnphWHZ6WmswdFBsMzVNVlFxeGFjaHFIWE16TXp3NmNxUDBheHAwM293azdhNnVycGFLaDBURVJFUkVSRVpMOVpwTmM4WTZqVEQvNnRhMm9VQVV0dlErWE5oYTJOajhNUFhGYlkyTmxnWThpRWtTZktBcGYwL2xJNkhpSWlJaUlpTUdPczBnMUM2VGpOb0E2Q1p1M3RqU1BpYjd3dDk3dzE5b0JyVno2Y1hYdWpyQTBrU2YydmVybDBqcGVNaElpSWlJaUxqd3pyTnNKU3Mwd3phQUtnbk5aZ2pRYkw2MjdRM0RYbllPdTN0NlZNQlNOYjFZRGxMNlZpSWlJaUlpTWo0c0U0elBLWHFOSU0xQUZwMDZPQW9xVER0aGI0KzZOamUwMUNIcmZNNmRmQkVYNTllQU1UZm5ucXFVNjFlcTVTSWlJaUlpQjRQNnpSbEtGV25HYXdCWUY1c0ZnaElObjhMWWxmSjBHWk1uUXhJa28zVVVEVlc2VmlJNk1rNWRlb1V2djMyVy9uMXBrMmJrSktTSXIvT3k4dkRzbVhMSUlSUUtFSWlJaUl5ZHF6VGxLTkVuV2E0ZFIwazFmRDI3VHpRcFZNSGd4MlM3dW5xMVJrZTdtMlJrSmcwSE1BYXBlTWhvdkptelpxRmhJUUVXRm8rZURKWXJWYUx3c0pDSEQ1OEdBQ3djK2RPK1BuNXlkOXYzYm8xNXMyYmg4MmJOOFBjM0J6YnRtMkRWcXVGSkVrR09RY2lJaUl5UWF6VEZLTkVuV2FRQm9CejY4NU5BUFFhOE9JTGhqZ2NWY0QzaGI1SVNMemswOHpkdmZITnBLUjBwZU1ob3ZKQ1FrTHd6RE1QWGhJMk96c2JyNzMyR2dBZ0tTa0paODZjd2VYTGw3Rmh3d2JNbkRrVGxwYVdjSEp5UWtSRUJDd3NMTEJyMXk3TW1UTUhjWEZ4Nk5peG93SFBoSWlJaUV3QjZ6VGxHYnBPTTBnRG9JR0ZORXlTWVBaaXZ6NkdPQnhWd0xkL1g2eFovNFdaQlN5SEF0aW9kRHhFVk43Q2hRdlJvRUVEQU1DVksxZmc1dVlHQUxoeDR3WmNYRnprOVhpRkVGaThlREVDQWdJd2MrWk1BRUJrWkNRMmJ0eUk1NTkvSGxldVhBRUFqQjA3RnJHeHNUaHk1QWpXck9IZ0h5SWlJdExIT2sxNWhxN1RETklBa0NScFNMT21MdkJzNTI2SXcxRUZPcmIzUkZNWFo5eTZsZm95R3dCRXhtbmV2SG55Q0lBK2ZmcmdtMisrQVFDODl0cHIrT2MvL3drbkp5ZEVSVVZCa2lUMDdOa1R4NDhmeHl1dnZBS1VGUHVkT25YQ2xDbFQ5Tjd6d29VTDJMQmhnd0puUTBSRVJNYU9kWnJ5REYybkdXUVNRQ0dnN3RITm04K2hLa2lTSkhUMzdncEk4Rkk2RmlLcTJNMmJOekY4K0hBTUh6NGMrZm41OHRjcEtTbVlPblVxUm84ZWpjMmJOd01BSmsrZWpFOC8vUlFBc0cvZlBqUnQybFRoNkltSWlNalVzRTVUbnFIcnRCb2ZBZURxNm1VdlNXam0zcVoxVFIrS0hzRzliV3NBVWt2SE5tMXNNNU9UYzVXT2g0aitSNmZUd2RYVkZYdjI3QUZLUmdDVWZsMDZBcUJaczJZUGZZL1RwMDhqSkNSRWIxdFdWbFlOUmsxRVJFU21pbldhOFRCa25WYmpEUUJkUGRIUkRCTGF0bVZpS2ExdDYzdi9CamJtbGgwemdTaWw0eUdpLzhuUHo4ZmN1WE5SdjM1OStmWHc0Y09Ca3BFQlU2ZE9oYm41dlkvczk5OS9INTk4OGdteXNyS1FrWkdCUVlNR1lkQ2dRV2pYcmgwU0V4UGg0K09EeG8wYkl5d3NEQUVCQWJoeDQ0YWk1MFpFUkZUVHRGb3R6TXpNbEE3RHBCaDduVmFYL2swTldhZlYrQ01BS2drZEFhQzJkSmEwV2kwR0RScUVnb0lDdmUxUlVWR1lQSG15WW5GVmhudkpmOXdxbUhPTmp4bzBhTkFnM0x4NVUzNDllZkprbkRsenB0SS9YMWhZS00vMFRuVkhXbG9hdnZ6eVM2eGJ0dzRBY09iTUdmajcrMlB3NE1INDVaZGZzSHYzYm93Wk13YnZ2LzgrZXZUb2daMDdkMkw3OXUxbzJyUXBmdmpoQjB5Yk5nMmhvYUd3c3JMQ2l5KytpSUVEQjhMS3lnb1RKMDRzTnlxQTZvNEZDeFlnT3pzYkFKQ2FtaXJuVjZrOWUvYmc3Tm16Q2tWSHh1TFVxVlA0OXR0djVkZWJObTFDU2txSy9Eb3ZMdy9MbGkyREVFS2hDTWxVR0NxWFNoK05LMnZRb0VIeTE4T0hEOGZ0MjdlcmRZeTZ3TmpydFBEd2NIejIyV2ZsdGdjSEIrUGd3WU9QL1BuRXhFUk1tRENoaHFKN3NneFpwOVg0Q0FCSmhlYjFMQ3pRb3ZuRGg2NGEyc0dEQnpGdjNyeEs3eDhWRllYNjlldmp6ei8vaEZhckxiZFc5NlpObStUSnVHN2V2UG5Jb2JwS2FObWlPU3dzekhIM2JsRUxwV01wcFZhcm5XSmlZaklCYUpXT3BhcDI3dHlKSFR0MnlLL1QwdEl3WWNJRXVXT1prWkdCNE9CZzFLdFhEd0JnWjJjSE56YzM2SFE2K1dlR0RCbUNwVXVYWXQrK2ZYcnZuWjJkamJGangrS0hIMzR3MlBtWW10cVFReHFOQnBtWm1XamN1REV5TWpMazdlUEhqOGZNbVRPUms1T0Q0OGVQUTYxV3c4UERvOXpQNjNRNmFEUWEyTmpZNFByMTYyalNwSW5lOTdWYUxjTEN3aEFVRkdTUTh6RTFwcEJEaVltSmVPT05OK0RpNHZMUS9USXlNakJ6NWt3TUd6WU01OCtmeDYrLy9ncDdlM3NBZ0pPVEUwNmRPZ1ZQVDAvMDdkc1hPVGs1V0xkdUhiWnQyMWJoZTQwZE94YXBxYW40OGNjZjVkRW5BQkFURTROSmt5WUJBRlFxRlp5ZG5URnc0RUM4K2VhYnNMQ3dlS0xuYlNxTUtZZG16WnFGaElTRWN0Y3BaV20xV2hRV0Z1THc0Y05BeWQ4eFB6OC8rZnV0VzdmR3ZIbnpzSG56WnBpYm0yUGJ0bTNRYXJYbG5oSE96OC9IdG0zYjhOTlBQK0dQUC81QS9mcjEwYXBWSzB5ZlBsMmUwTFI3OSs2d3RiWEZvVU9INUwrRFpjMmVQUnNuVHB6QXJsMjcwS1pOR3dEQUR6LzhnQjA3ZHVEcTFhdVFKQWtkT25UZ1pLWUtNRVF1cGFhbVl0eTRjWldLNTlsbm44WENoUXZMYlo4L2Z6NnVYTG1Dckt3cy9OLy8vUjhBNE5hdFc1Z3laUXBVS2hYKzhZOS9vSFZyNHl4d2xXYXNkUm9BRkJjWDQ1dHZ2cEhuTzNxVWtKQVF1ZUZkS2o4L0g1Y3ZYOGJiYjc5ZGJ2OVJvMGFoWjgrZVR5emU2akprblZiakRRQWhZR3RqWTJOMEUwc01IRGdRQXdZTUFBQ0Vob2FpZGV2V2VuZGRseTVkaWxhdFdzbmJ6TTNORVI4Zmo3Tm56OExlM2g2Ly92b3JBS0JidDI0NGUvWXM4dlB6TVdqUUlHZzBHa3lZTUFGYnRteDU1SVdhb2FsVUtsaGJXU096S05OVzZWaktlTDFyMTY3QlFvaDlraVR0emMzTlBacWNuRnlvZEZDUFk4eVlNUmd6Wm96OGV2YnMyUWdPRGtianhvMEJBQjkvL0RHR0R4OE9kL2YvemE0YUhSMk5tSmdZUkVWRllkcTBhYWhmdno1ME9oM3k4dkp3OSs1ZCtXdU5ScVBJT1prWWs4K2hvMGVQUXExVzZ4Vlp0Mi9meHFsVHB6Qng0a1NFaDRlalM1Y3VHRDE2Tk5xMWF5ZnZJNFJBY1hFeGdvT0Q0ZXZyQzN0N2U5aloyY0hlM2g1NWVYbnlmbGxaV1lpS2ltSUQ0TUZNSW9mYXRXdUhUWnMyUFhTZnBVdVh5bDl2Mzc0ZEdvMUdmandrTURBUUw3endBbUppWW1CbVpvYUlpQWg0ZUhnZ09Ua1oxdGJXc0xHeGtYODJPVGtaS1NrcHNMS3l3c21USjlHM2I5OXl4OXEzYngvTXpNencrKysvSXpRMEZGcXRGbSs5OWRZVFBtdVRZVlE1RkJJU0loZmdGY25PenBhdmI1S1NrbkRtekJsY3Zud1pHelpzd015Wk0yRnBhUWtuSnlkRVJFVEF3c0lDdTNidHdwdzVjeEFYRjRlT0hUc0NKWjhya3laTmdyVzFOV2JPbkFrM056ZGtabWJpN05telNFdEwwenZlM2J0M2NlVElFUXdlUEZodis2MWJ0eEFkSGEyMzdjaVJJMWk4ZURFKytPQURxTlZxNU9ibXl0ZGNaSGcxblV0T1RrNElEdy9YZTgvbzZHaHMzTGl4M0lpbDBrZmtrcEtTY1AzNmRkeStmUnZ4OGZGNDY2MjNZR3RyaThHREIrUExMNzhFU29xN2Rldld3ZExTVXU5dksra3oxam9OQVBidjM0K3VYYnVpUllzV2lJK1B4NHdaTStUdjVlZm5Jekl5RWl0V3JBQkticTZ0WExrU1JVVkZldTl4OWVwVmJONjhHZE9tVFN2My9zN096Z1k0aThvelpKMW1pUDhpYkJzMmJHQ0F3endlU1pMa0R3UkprcUJTcWNwOVFOeS9MU0lpQXNlUEh3Y0E3TnExQ3lkUG5rUkVSQVJXcmx5SjRPRGdlLzl3MXRZSURBekVxbFdyOUM3RWpFWERoZzJRbFMzWlZHSlhRMm9rU2RJRUFCTnNiVzF6MVdyMUR3RDJhTFhhUStmUG44OVhPcmpLMkxObkQzSnljZ0FBblR0M2xvdC9BQ2dxS2tKc2JLeGVBOERiMnh1NXVibUlqNDlIdDI3ZGNPUEdEZGpaMmNrRldyMTY5UkFVRklUaTRtSUZ6c1lrbVhRT2hZZUhZK2JNbVFDQWE5ZXU0WTgvL3NDZ1FZUGc3ZTJOYWRPbVllWEtsWWlNak1TcVZhdVFsSlNFaFFzWHdzZkhCL0h4OFVoTlRjV1FJVVBnNGVHQnFWT255bDF1U1pMa1I1VXVYYnFFcDU1NlN0RnpOQUZHbjBPSmlZbDQ5ZFZYQVFBNU9UblFhclZ3ZEhURTdkdTNvZEZvMEtSSkU2U25wOFBkM1IyblQ1L0c2ZE9uOGQxMzM4bWZSNEdCZ2VqUm93Y2FObXlJK1BoNHVMaTR3TVhGQlN0V3JNQ2lSWXZRcVZNbitWajc5Ky9IYzg4OUJ3Y0hCeHc0Y0tEQ0JvQ2pveU1hTm15SXBrMmJJaWtwQ2NlT0hhdkxEUUFZVXc0dFhMZ1FEUnJjdS9hNmN1VUszTnpjQUFBM2J0eUFpNHNMVktwN1Q0QUtJYkI0OFdJRUJBVEluMEdSa1pIWXVIRWpubi8rZVZ5NWNnVW9HUTBTR3h1TEkwZU9ZTTJhTlFDQVJZc1d3ZDdlSHV2WHI1ZEhmclJvMFFLZE8zY3VGNCszdHpkMjdkcFZyZ0d3YTljdWRPN2NHYWRPblpLM1JVWkd3dHZiV3g3TzNheFpNNzNHSnhsV1RlZVNtWmxadVVMTTN0Nit3dTJscGs2ZEtsOXpqUnMzRGg5KytDRzZkdTJLVmF0V3lYUGVoSWFHSWowOUhRNE9EckN6czZ1eDMwOHRZSlIxV241K1ByWnMyWUt3c0RCOC9mWFhTRWhJUUVSRWhQejk0T0JnOU83ZEcvNysvbzk4cndZTkdsUTRldElZR2FwT3EvbEhBQUFiSzZ1R05YMFlnNWd4WXdZeU1qTFF2WHQzdlBUU1MralhyeDlXcjE2TlAvNzRBK3ZYcjRkR280RkdvMEYrZmo2eXM3Tng4ZUpGZUhwNktoMjJIcXVHRFNFZ0dkTUlBS0RrRDBjSlcwbVNBZ0FFbUp1YjMrN2F0ZXVQQVBaSWtuUWdPam82Ujlrb0h5dzhQQndEQnc1RWZuNCtEaDA2QkE4UEQ2eGN1UklvdWZQeDIyKy95V3U2RHhzMlRHL0VBRW91bXU3dmdLTmthQjBuY0tzY1U4NmhSWXNXeVo4Vm5wNmVtRHQzTG54OWZmV0dYZmJ1M1J1OWUvZEdkblkycksydEFRQWVIaDVZdUhBaHZMeThFQkFRZ0hIanhza2ptNnl0cmVIaTRvTCsvZnNEQUJZdlhxekl1WmtTWTg4aER3OFBlUVRBenAwN2taZVhoeWxUcHVENDhlTTRjZUlFUHZyb0kxeThlQkUyTmphNGUvY3V2TDI5TVhIaVJBQ1FDL2czM25oRDcwNC9BRnk0Y0VIdmRYRnhNUTRkT29RUFB2Z0E5dmIybURwMUtyS3pzK1ZIQ1I1RXExVjg5THZpakNXSDVzMmJKOSsxN2RPbmovejNwM1JGRVNjbkowUkZSVUdTSlBUczJSUEhqeCtYSDJNY08zWXNPblhxaENsVHB1aTk1NFVMRitSaCtLbXBxVGh4NGdRMmJ0eFlxY2MrWG43NVpRUUhCK1BDaFF0eW82bWdvQURmZmZjZFFrSkM5Qm9BcnE2dTJMSmxDMkpqWStIbHhaV0xsVmJUdVZRVi8vclh2N0I5KzNaY3VIQUJIMy84TWRMVDB4RVVGSVFlUFhybzdaZWNuQXcvUHorOC92cnJWVDVXYldlc2RWcDRlRGdzTEN5d1k4Y08vUFRUVC9MSWprY0pDUWxCVkZRVUdqYThkMDVGUlVYSXlzcVNjeElsaitxR2hZWHBOYjJOaGFIcU5BT01BSkJzUy84UmpNbWRPM2ZrUDlSYXJSWkZSVVY2azRYY3Y4M0N3Z0lXRmhaSVNrcENZR0FnMHRMUzRPTGlndWVlZXc0ZE8zWkUwNlpOMGJoeFl6ZzZPc0xXMWhaYnRtekJqaDA3c0dqUklzWE9zU0lOclJyQ0RLSzVXcTArcm5Rc0pWcVdmbEYyK0ZISnYwMURBTU1rU1JvbWhOQjI3ZHIxWjUxT3R6TzNBRWI1a09td1ljT3dmZnQyakIwN0ZzOCsreXplZmZkZC9Qenp6NWd6Wnc0QTRLMjMzc0s0Y2VQUXZYdDNyRjY5R25GeGNiaHg0d2JtenAyTE8zZnVJRGs1R1NpNXM2ZFNxZlF1MGowOFBMQnMyVExGenUxK1poS3NtVU5QVHRsR29iVzFOWVlNR2ZMQWZjc1dZUzR1TG5MM2UvMzY5ZVVhamx1M2JxMlJlSjhFNXREalU2bFUrT2MvLzRtVEowOGlOemNYT3AwT1AvNzRJMjdmdm8zYnQyL0xoZnlrU1pQZzcrK1AxYXRYSXpRMEZHcTFHdjcrL2dnTURLelVjYUtpb2xCY1hJeGV2WHJCd3NJQ3pzN09PSGp3WUxuR0pVcWFCZWZPbmNPMzMzNkwwYU5IUC9GemZoam0wSVBkdkhsVFhrWGtRU3VLMk5yYW9rK2ZQcGc4ZVRLR0RSdUdpUk1uWXQrK2ZZaU1qTVMxYTljZSt2NkppWWtBVU9rTGFBY0hCd3dZTUFDN2QrK1dmK2FISDM1QWl4WXR5cjFIWUdBZ0xsKytqSWtUSjhMWDF4Y3pac3hBaXhaR00zVlJuVlBUdVZRVmpvNk9PSDM2Tk83ZXZZdGZmLzBWSFRwMFFQMzY5Y3ZOdi9Ybm4zOCs4V1BYUHNaWnAvWHQyeGZObXpmSDExOS9qY0RBUURScjFnenZ2UE1PenAwN0IxVHdDTUNFQ1JQa3YzRno1c3lSNTZGSVRFekUwcVZMOVI2Zk0rWkoyeHRhTlFTRU1QMEdnSUFRTU1KWlkwZU9IQ2xQRkZGVVZBUkpraEFXRmlaLy8vNXRJMGFNd0l3Wk01Q2FtZ28zTnpkRVJrYkMzZDBkTDd6d1FvWHZQMnJVS0tOY3RrS0M4VDNqOHlnbEYxQXFBQTBBMUJNd3ZueENTYzdzMjdkUG5oRFF5OHNMR3pkdVJGWldGaElTRW5EbnpoMTA2OVlOQU5DL2YzOVlXVmxCcTlWaTZOQ2g2TlNway94c1czQndNSVlPSGZyUVorN284WmhLRGxXSHNZMDJxbTJVemlHZFRnZHpjM1BNbWpVTHMyYk5ldUFJZ0VkWnNtUkp1VHUybHk1ZDBudTlmLzkrK1ByNnl2djUrL3Zqd0lFRDVSb0FMN3p3QW9xTGk5R2dRUU84L3ZycjhtZ0RxcGloY2tpbjA4SFYxUlY3OXV3QlN1N2FsbjVkZXRmMlVSTVZuejU5dXR6cUlWbFpXZkxYcGMvWkZoY1h5NDlLdnZmZWUvS2QvSjQ5ZTVacldnY0VCT0NOTjk3QU8rKzhBMGRIUit6YXRVdWVzSzJzK3ZYckl6UTBGRU9IRHNWbm4zMkdFU05HNEwzMzNzT0lFU09xK0J1aHFqSkVMbFZGWEZ3Y0xDd3NZRzF0amIxNzl5STNOeGVOR2pWQzc5Njk5ZmE3ZjBJNEtzOVk2elFQRHcra3A2ZkR5c3BLL3R1emF0VXFwY09xY1lhcTB3endDSUNVcTlFWXhlT1Rlc3JPcWo1MzdseDRlWGxoNU1pUjhyYlEwRkM0dWJucFhmQWtKU1hCMHRJU3VibTUrT1dYWCtEdDdZMlltQmdFQlFYcDNaVVRRa0NTSkhsR1ZHT2l5ZGRBQy93UkV4TXpTdWxZY0cvbTVOa0FWcURNMEVsSmtpQkpFb1FRaFFBaWhCQjdkVHJkdnZQbno2Y0JnR3M3cjFjVkRydENGaFlXbURObkRsYXZYbzFYWDMwVmMrZk9oYTJ0TGQ1ODgwMFVGaFpDcFZKaDFLaFJjSFYxeGZMbHkvSFhYMy9KY3dEczJyVUxhOWV1aFoyZEhmNzg4MC9FeDhmTHEwbGtaR1JnNWNxVlJ0VVEwQXBvWW1KaStpa2RCMnBaRHRVbHpLSEhrNStmandzWExzaDMzeDQyQXNETnpRMzkrdlhEdW5YcmtKT1RnNGlJQ0J3NWNnVE96czV3ZG5iR3FWT25FQmdZaU1PSEQ2TjU4K1pvMDZhTlBEdDdUazRPSWlNallXWm1oaDkvL0JFb0tmSUtDZ3FRbEpTa041Zko1czJiNGVEZ0FHZG5aMFVta0dJT1ZTdy9QeDl6NTg2Vm04b1B1bXNMQU8rLy96NCsrZVFUWkdWbElTTWpBNE1HRFpJbmpVeE1USVNQanc4YU4yNk1zTEF3QkFRRXlJK2tOVy9lSENoNUpyeTArZmplZSsvaHpwMDdDQXNMUTI1dWJybTQycmR2RDA5UFQrelpzd2RkdW5SQlptWW1mSDE5Szl3WEphc0hiTnUyRFdGaFlWaXlaQW02ZGV1R1ZxMWExY1N2akI3QUVMbFVGV3ZYcnNXUUlVTVFFUkdCWmN1VzRjOC8vOFQ2OWV1eGRPbFNhRFFhQ0NGZ1kyT0R2Lzc2aThzcVA0S3gxbW1sSTJUOS9QeXdjT0ZDMk5qWW9IMzc5dkxmcGZ2Tm1qVkxIaW0wYk5reWVlV0E3T3hzRkJRVXdNL1BUODdWc3FzdEdSdE52Z2FRVVBHSDRoTlU4eU1BSkpHcnlUZSt4Q29yUFQwZGpSbzFldVIrN3U3dWVQWFZWL0g2NjYranNMQVFVNlpNd1pVclY5Q3RXemQ1VWh6Y055T3FzZEZvOGlHaDVoUHJNY2h0eDVJTEpZMFE0ckFRWXE5R28vaytPVG5abUdKOXBJRURCMkw1OHVWNDVaVlgwS3RYcjhkYWF0TGYzeDh6Wjg3RXFGR2pzRy9mUHJ6MDBrdll0MjhmZ29PRGF6VG1XcUJXNVJBcHd1aHpLQzB0RFFNR0RFQklTQWdXTEZpQVo1NTVCczg4OHd5bVRwMktyVnUzd3NiR0JrbEpTVGg2OUNpbVRac0dTWkl3ZVBCZ3ZVY0FBT0EvLy9rUHJsMjdocGRmZmhsSlNVbG8zNzQ5UHZ6d1EvazRodzRkZ3BPVGs5NklPSlJjM0I4NGNBQ3paOCtXdDdWcTFRckdPSFJVSVVhVFEybHBhZmp5eXk4aFNSS0Nnb0p3NXN3WmJOeTRFU3FWQ2hNbVRFQkJRUUcrLy81N1BQWFVVK2pSb3dkMjd0eUo5UFIwZWRoMnFZa1RKK0xGRjE5RTA2Wk5zV1BIRHIwUkhoNGVIbkIxZFVWWVdKaDhWNjUwc2tscmErc0hGdlVCQVFINDlOTlBjZW5TSll3WU1hTENaUUh2RnhnWWlBMGJOaUFsSllVTkFBTXpSQzQ5THExV0M1VktoUjQ5ZWlBaUlnSzJ0dmRHU3k5WXNBQjkrdlRCdG0zYllHdHJpNkZEaHlJK1B0NG9aN2MzSnNaYXAyVm5aNk43OSs2d3Q3ZUhxNnNyUEQwOWNmandZVGc2T3NwTnFGTHo1OCtYUDNQR2poMkxHVE5td01uSkNRY1BIcFFia3U3dTdsaStmRGtzTFMxeC92eDV1THE2S25OaWoyQ29PczBRY3dEazVlZmZyc1IreWlnc0xFUjhmRHphdG0xYnFmM0hqeCtQMk5oWVJFZEgxOGh6VFRWTm84bUhFRWJWQUpDRUVKa0FEdWgwdXIzWjJkay9wcVNrRkNnZFZGVkVSVVhodDk5K2c3T3pNMjdkdWxWdW9xMktaR2RuWS92MjdRKzhXS0pLTWFvY0tsMGozY2ZIcDhMaGFrVkZSZkQzOTRkV3E5V2IwVmFqMGVETEw3OUVSRVFFVWxOVFlXTmpnK2VlZXc3VHBrMUQwNlpONWYyNmQrOE9uVTRIQUxDeXNvSzd1enVHRHg5ZWJpYmNzdnVWT25ic0dPenQ3YXUwTG5jdFoxUTVWSkdFaEFTMGJObFNiNXU5dlQybVQ1K09qejc2Q1BuNStjak56WVdmbng4S0N3dkxyZHRkT29uZjFhdFhLNXhaKzhjZmYwVHIxcTF4NE1BQitQcjZsaHZXTzNEZ1FHemN1TEhDdFpRSk1KWWMwbWcweU16TVJPUEdqZlh1Y28wZlB4NHpaODVFVGs0T2poOC9EclZhWGVHczJEcWREaHFOQmpZMk5yaCsvVHFhTkdtaTkzMnRWb3V3c0RBRUJRVWhKQ1FFUVVGQitQdmYvNDR4WThiQTJka1pHUmtaU0U1T2ZtQmpxSC8vL2xpMWFoVk9uRGloTnhLenJMVnIxNkpWcTFibzBLRUR6TTNOOGUyMzM2Smh3NGJvMEtGRHRYOC9WSG1HektYSFlXWm1ocFVyVitMV3JWdEF5V1NTYjc3NUpnQmczYnAxU0VsSmdSQUNYMy8vc2V2U0FBQVNMa2xFUVZUOXRmd3p3Y0hCNk5LbHkyUC9EdW9HNDZ6VE9uYnNLRDlHcE5QcDVKckx5Y2tKN2R1MzE5dTNkSlVLbE55c0ZVTGc4ODgveDIrLy9ZWjU4K2JoODg4L3grREJnekZwMGlTRWhvWld1RktKc1RCVW5XYUlPUUNNc3JOVWF2MzY5WEIzZDYvMEJEUGZmLzg5cmw2OWlyZmVlZ3ZUcDAvSCsrKy9YK014UGlsQ0NPVGZtOVF3NzlGN0c0WktwZG9hSFIyOUdvREpyM2ZYcWxVcm1KdWJZODZjT1pnelo0NjhYTmY5ZERvZDVzeVpnN05uejhMTXpBeHhjWEc4cTFFTnhwaEQ5ZXJWdytuVHArWEhPTW82Y3VRSUNnc0w5WllZemMvUHg0UUpFeUJKRW1iUG5vMm5uMzRhZi8zMUZ6WnYzb3pBd0VCczNicFY3ek5xL3Z6NTZOR2pCOUxTMGhBVEU0UGx5NWZqMy8vK054WXZYcXczOTBqcGZxVks3NVRnTWRmbHJ1Mk1NWWZLMG1xMU9IYnNXTGxucWk5ZHVvUzB0RFQ1V2VuUm8wZWpmLy8rZXNXL0VBTFIwZEhZdlhzM3RtelpnaU5IamxRNFdkK1pNMmVRazVPRGhJU0VDa2NkK2ZyNnloTVFja210OG93bGg0NGVQUXExV3EzMytYTDc5bTJjT25VS0V5ZE9SSGg0T0xwMDZZTFJvMGZyTGEwbmhFQnhjVEdDZzRQaDYrc0xlM3Q3Mk5uWndkN2VIbmw1Lzd0a3lNcktRbFJVRklLQ2d0QzVjMmVFaDRjakxDd01zMmJOZ2thamdaT1RFenAxNnZUQVVaRG01dVo0OWRWWDhkLy8vbGR2dWR5eUdqZHVqRTJiTnVIV3JWdXd0TFJFdTNidDhQbm5uejl3ZjZvWmhzcWxOOTU0bzF5enVyQ3dFRHFkVG05eTdsTDE2dFdUSDBrQUFFdExTN25ZUDN6NE1QYnMyUU5IUjBlNHU3dGp3b1FKVC96M1V0c1lhNTEyOGVKRi9Qenp6emgzN2h6aTR1TFFybDA3ZUh0N1AvTG40dUxpc0dMRkNqUnQyaFRyMTYvSDFhdFhBUUIrZm41d2NIQkFVRkFRWG5ubEZZd2JOODdvUnJBWnNrNnI4UWFBU2tqWHRWb3QwdEwrUXBNbVRqVjl1RXE3YytjT1ZxOWUvVmhMUyt6ZXZSdHIxNjdGRjE5OGdiWnQyNkpqeDQ0b0tDaEFURXlNM3ZJUzkzK1FHWXZVUDlPZzAra2doRENhb1F2UjBkSHBTc2Z3cERSdjNoeGR1blRCdG0zYmtKcWFXdUc2MlNpWnlidDM3OTZZUEhreTJyVnJCMG1Tc0d2WEx1VGw1VUdTSkZoWldRRWxNN3lqNUpuY3lneVRyS3VNTVllRUVGQ3IxZmptbTIvSzNUSDkrdXV2NGVYbGhiaTRPSGxiV0ZnWU1qTXpzWGZ2WG5ua1NJc1dMZENsU3hjRUJnYnFQYytHa2p1L3BjOXpkK3JVQ1FNR0RNQ1lNV1B3MVZkZjZjMzBYcnBmUlI1blhlN2F6aGh6cUt4ang0N0J3Y0ZCdmdONjdkbzEvUFRUVDNCeWNzS1FJVU13WXNRSWRPellFWnMyYmNLb1VhUFFzbVZMZlBIRkY1QWtDZkh4OGJoejV3NVdyVnFGZGV2V0lUYzNWLzVza2lRSkJRWDNibEpmdW5RSjQ4YU5lMkR6cDNIanh2anR0OS9rMTNXdFNmUW94cEpENGVIaDhocnMxNjVkd3g5Ly9JRkJnd2JCMjlzYjA2Wk53OHFWS3hFWkdZbFZxMVloS1NrSkN4Y3VoSStQRCtMajQ1R2Ftb29oUTRiQXc4TURVNmRPbFQrNzdzK1RwNTU2U2o2ZW01c2JsaXhaOHRDWXl1WU5Tb2FEbDlXNGNXTzlmQm8xYWhSR2pUS0thWXJxTkVQbDBzU0pFNUdTa2xKaERMNit2dVcydmZ2dXV4ZzZkS2o4V3FmVElTNHVEbDk5OVJXdVhMbUNOV3ZXd05yYUduLy8rOTh4YWRJa3ZQYmFhM2oyMldmbDVYTkpuN0hXYWNuSnljak56Y1dJRVNNUUdob0tCd2NIYk5pd0FlSGg0ZGk3ZDYvZXZxV1RTb2FHaHVLbm4zN0NPKys4ZzVkZmZybmNlL2JvMFFQYnQyL0hzbVhMTUhEZ1FDeFpzZ1RQUC8rOHdjN3BVUXhacDlWNEEwQlhySTFUV1pnaEllbVNVU1ZXV0ZnWWtwS1NzSDM3ZHIzaHRROVR2MzU5ZlBiWlovTGpBcDZlbm9pSmlZRmFyVGFKT1FBU0VwT0FlLyt4WDNqa3psUWx4Y1hGT0hueUpKWXZYLzdRb24zWXNHRVZicTlYcng1Mjd0d0psRndFK2ZqNG9GbXpabnJkZFRKK09wME9vMGFOd29JRkN6Qmx5aFQ1anV6NTgrZHgvZnAxakJ3NVVxOEJjT2pRSVl3Wk02YmNZeU1xbFFxQmdZSDR4ei8rQVkxRzg4QUxHQmNYRnd3ZlBoeDc5KzZ0OUZKdmo3TXVOeW1yYjkrK2VvOWlqQjgvSGk0dUxucmI3TzN0TVd2V0xMenp6anZJeXNxU24zc2RPWElrK3Zmdmo3Q3dNSnc2ZFFwcjE2NlY3K2gxN2RvVjgrZlB4OXExYTlHdVhUdTl3bzVNMDZKRmkrUkorVHc5UFRGMzdsejQrdnJxalFycDNiczNldmZ1amV6c2JQa3p4Y1BEQXdzWExvU1hseGNDQWdJd2J0dzREQmd3QUNoNXB0L0Z4UVg5Ky9jSEFDeGV2RmlSY3lQRE1sUXVWWGVDNHpObnppQTBOQlFqUjQ3RWdnVUw1TlZMUHZua0UremZ2eCtiTjI5RzU4NmQyUUI0QUdPdDA0WU1HVkxoa3NpQmdZR1lNbVdLM3JiUzFVVDY5ZXVIYWRPbXdjSEI0WUh2MjZoUkl5eGR1aFFYTDE3RTAwOC9YUU9SVjUwaDY3UWFid0RrWjkrTnMyNXNLUzRtSkVrK3ZZeW55eko5K25TWW1aazljSEtRc3BNaWxTcDdsNy9VL2NVL1NpN0VqSEVGZ01Ta1N4QkM2TzVxek9NcXNUczlodEpsY1ZEU1hIcGNnd2NQUm5HeC9zaFJmMzkvdlBUU1MxQ3BWRThrUmpJY0lRVDY5T2tES3lzckhENThXTDViOGRWWFgySG8wS0Y2RjFCNWVYbkl5TWg0NER3a2JtNXVFRUxnNXMyYmVqT3czNjl0MjdiWXVuVXJkRHBkcFhMbWNkYmxKbVhWcTFkUDcwS2xWNjllRDl4WGtpUTRPanJLcjBzblMzcnR0ZGNRRkJTa2R4SGNyMTgvOU90bkZKUG8weE5TZGpsUWEydnJDaStnUzVWZHZjakZ4VVdlUjJUOSt2WGxsaFhkdW5WcmpjUkx4c3ZZYzhuVjFSWHIxNjhIQUwwSkIwdEprb1JYWG5tbHdtdDMraDlqcmRNcWNuL2hYK3BoT2VYaDRZRk5temFWMjI2TVN5Y2JzazZyOGNvaVBUMHhEOERWeEV2Sk5YMm94Mkp1Ymw3blpnYTltSFFKa0tRck4yOUdHOTlzSDNXY2xaVlZoYy9Wc3ZnM1hhWExQcFkrbTVpZW5vNFRKMDZVRzlxcTFXcUJrb21OSHZRK0QvdCsyZmRScVZSNk9mUGVlKytoWjgrZTZObXpKOGFQSDEvdVp3SUNBbkRreUJGa1ptWUNKY1AvQXdJQ0h2dGN5ZmkxYk5tU2Q4Q29Vb3p4d3BoTUUzUEorQmxyblZZWEdiSk9NOEFxQUFBa3hQejZXN1NyRUtMT0ZkM0dRZ2lCLy93V0RVa2dSdWxZaU9xS1ljT0dZY09HRFlpSmljRXZ2L3lDNTU1N0RzMmFOWlBYYTBmSnhIelcxdFpJVGs2dThGbTB5NWN2dzl6Y1hGNTMrMEhpNHVMS2pSQjQ5OTEzMGIxN2R3Q1FoMFdXOWJqcmNoTVJFVkV0d3pwTmNZYXUwd3h5ZTFIbzhQMnQxRlQ4SHA5Z2lNTlJCUzc4SG84LzAvNkNFT0tnMHJFUTFSVTJOamJ3OS9mSHQ5OStpKysrKzY3Q3Urc3FsUXErdnI3WXNXTUg3dHk1by9jOW5VNkg3ZHUzbzErL2Z1V1dkU3ZyK3ZYck9IRGdRTG5aM1oyY25OQ3laVXUwYk5sU25sVHlmZ0VCQWRpN2R5Lys5YTkvVlhwZGJpSWlJcW9kV0tjcHo5QjFta0VhQUVYaXpuNGhvRDF5N0xnaERrY1ZPSHJzQkFBVUYrY1hsMzlRaW9ocVRFQkFBQTRmUGd3N096djVidno5cGsrZmpucjE2bUhLbENuNDlkZGZrWnFhaXBpWUdMejk5dHZJek16RXJGbXo5UGJQeTh0RGVubzZybHk1Z2wyN2RtSDgrUEh3OS9jdk42Ti82WDZsLzd0NzkyNjVZL2Z2M3g5YXJSWW5UcHg0NE5LVlJFUkVWRHV4VGxPZW9lczBnendDY0RNcEtkMjFuZGZKb3hISCs4eDZhNW9oRGtuM09ScHhBa0tJeUJzM2ZzOVVPaGFpdXVUcHA1OUc5KzdkSzF6T3FKU0Rnd08yYnQyS0RSczJJQ1FrQkptWm1YQndjSUNQanc5Q1FrTEtyWDg5Yjk0OG9HUmlKazlQVDN6d3dRZnlyTW9WN1ZkcXhZb1Y1U1o5cTh5NjNFUkVSRlE3c1U1VG5xSHJOTVBNQVFBQVF2ZGRZbEp5bjdPeDU5SFZxN1BCRGt2QTJkanpTTHFVREFuWVc0bmRpYWdhMUdwMXVYV3YxNjFicC9mYXo4OFBmbjUrZXRzY0hSMFJIQnlNNE9EZ2g3Ny8vZTlkbGYwZWQxMXVJaUlpcXNWWXB5bEdpVHJOWUZPTTN4VUY0UUlpZjgzNkx3eDFTQ3F4WnQwWEFFVGVYUlR1VkRvV0lpSWlJaUl5SHF6VGxLTkVuV2F3QnNETnBLUjBBSitmK1BrazR1SXZHdXF3ZGQ3NXVOOXhJdklraEE1ci8waEl5RkE2SGlJaUlpSWlNaDZzMDVTaFZKMW0wRVhHQzRwVUt3U1EvOW5hTUVNZXRrNzdiRzBZQkVUK1hYRm5oZEt4RUJFUkVSR1I4V0dkWm5oSzFXa0diUUNrSnNmOEJTRStPeHB4QXNlTy85dVFoNjZUZmpyK2J4dzc4VE1ncEU5TE9udEVSRVJFUkVSNldLY1pscEoxbWtFYkFBQ0FncHlQQlBEZkQrY3ZRa1lHSjZTdktSbVptZmd3WkNFQUpLTWdlNEhTOFJBUkVSRVJrUkZqbldZUVN0ZHBCbThBcEtTa0ZPaTBZbnphWCtuRlU5K2FqYUtpSWtPSFVPdmR2WHNYVS84MkczK2xaeFRwaFBiMWxKU1VBcVZqSWlJaUlpSWk0OFU2cmVZWlE1MW0rQkVBQUs0bG5UdXAwK3Jlam82SlJkRGJjM0QzN2wwbHdxaVZDZ3NMRWZUMkhFVEh4RUlyeEl5ckNSZE9LeDBURVJFUkVSRVpQOVpwTmNkWTZqUkZHZ0FBY0RYcC9GcWRUc3lMT1BFekprejlHekl6czVRS3BkWkl6OGpBRzFObTRQaS9JeUdFN29OckNlYzRpd2NSRVJFUkVWVWE2N1FuejVqcU5NVWFBQUJ3TmZIY0lxSERPNmRPLzBmcjkvSkk3UG51QUxSYXJaSWhtYVRpWWkzK3RYYy8vRjRlaVYvK2M2WllLOFJiS1Fubmx5Z2RGeEVSRVJFUm1SN1dhVStHTWRacGlqWUFBQ0FsTWZZVEFmaGtaR1pjbi9QQlA5Qm53QkI4dGpZTWlaZVNsUTdONkNVbVhjTHF6emVncjk5Z3ZQZGhDTEt5c3EvcGhOYm5Xc0s1ejVTT3JXYUp6T3ljSEtXRHFMUHUvZTZGaWM4TXd4eFNFbk9JcW9zNVJOWEZIS0xxcWgwNTlIQ3MwNnJPbU9zMGM2VURBSUNyQ2JGUnpzNmRQUnZZaTRrM2I5NmN0R3JOdWs2cjFxeURWY09HYU5iVUJiWjJ0akEzTTFNNlRLTlFyTlVpSnljWHQyNmxJdi8yN1hzYmhiZ2doTmg0Tjg5aTQ4MmJzYmVWanJIR0NWeEt1WG9kZVJvTmJLeXRsWTZtVHNuTnkwUEsxZXVBd0NXbFk2a1c1cEJpbUVOVVhjd2hxaTdtRUZWWHJjbWhTbUNkVm5tbVVxZEpTZ2RRa1ZadE8zcEtabVkra3BBNkMwbTRTQkxzaEpDWVdRQWtTV2lGUUk0a3BGUWhpWFBRNlg1T1NicVFvSFJjaHVUbTNxR0xVRmxFditUN2d0bWkrUitpa2FPajBpSFZDZWtaOTVZc09YTHNoRllTeFYydkpNYWRWenFtcW1JT0tZTTVSTlhGSEtMcVlnNVJkZFdtSEtvSzFta1BaaXAxbWxFMkFJZ2V4YzJqeTF3aDRTTnpjM09WbSt0VC9LTlh3OUl6TXBDU2NnM0ZXcDFXQ0YzSTFjVHpvVXJIVkYzTUljTmlEbEYxTVllb3VwaERWRjIxTVllbzdtRURnRXhXcTNZZG41ZGdOaHFTMUFvQ2RrckhVNnRKeUlFUVZ3VzB1NjRteEVVcEhjNlRZcW81WktFU1RRQ2dTQ2VsS1IxTHBUR0hxTHFZUTFSZHpDR2pJa0ZZQUlDQVpEcUx6ZGZTSERKMUhUdDJkRmFwVk9MOCtmT21jMTFFUkVSVVdXcTFPa3V0Vm5OTkhpSWlNbGxkdTNhZDR1WGxOVm5wT01qME1aY2VqK0tyQUJBUkVSRVJVWjB6WEpLa29Vb0hRYlVDYytreHNBRkFSRVJFUkVRRzA2bFRKd2NBL1NWSjhudjY2YWRONXJFRk1qN01wY2ZIQmdBUkVSRVJFUm1NU3FVYUNzQU1nSm1kbmQzTFNzZERwb3U1OVBqWUFDQWlJaUlpSW9OUnFWUkRoUkFRUWtDU3BHRkt4ME9taTduMCtOZ0FJQ0lpSWlJaWcvRHc4TEFCOEZLWlRRTTdkKzVzcFdCSVpLS1lTMVhEQmdBUkVSRVJFUmxFZ3dZTmhraVNWSy9NSmtzek03T0JDb1pFSm9xNVZEVnNBQkFSRVJFUmtVR1VEdGt1VmZJMWgyN1RZMk11VlEwYkFFUkVSRVJFVk9QYXRHbFRYd2poRHdDU0pFR1NKSlI4UGFSTm16YjFsWTZQVEFkenFlcllBQ0FpSWlJaW9ocG5aV1hsTDBsU1JjOW8yOWphMmc1UUlDUXlVY3lscW1NRGdJaUlpSWlJYXB5Wm1kbndza08yU3draG9OUHBoaXNTRkprazVsTFZtU3NkQUJFUkVSRVIxVzdlM3Q0V1FvZ2hwVU8xUzVWNS9VcEpiVktzUkh4a09waEwxY01HQUJFUkVSRVIxU2lkVHVja1NkS3EwdGRDaVBHNFY3UnRLZmwvdEcvZnZuRjhmSHlxa25HUzhXTXVFUkZSbmFKV3E3UFVhbldXMG5FUUVSRlZsVnF0UHE1V3E0OHJIUWVaUHViUzQrRWNBRVJFUkVSRVJFUjFBQnNBUkVSRVJFUkVSSFVBR3dCRVJFUkVSRVJFZFFBYkFFUkVSRVJFUkVSMUFCc0FSRVJFUkVSRVJIVUFHd0JFUkVSRVJFUkVkUUFiQUVSRVJFUkVSRVIxQUJzQVJFUkVSRVJFUkhVQUd3QkVSRVJFUkVSRWRRQWJBRVJFUkVSRVJFUjFBQnNBUkVSRVJFUkVSSFVBR3dCRVJFUkVSRVJFZFFBYkFFUkVSRVJFUkVSMUFCc0FSRVJFUkVSRVJIV0F1ZElCRUJGUmxkaXAxZW9zcFlNZ0lpS3FJbXNBR3JWYWZWenBRTWprZVFHSVZUb0lVOEVSQUVSRXB1ZG5BRGxLQjBGRVJGUU5HZ0RwU2dkQnRVS3NKRW43bFE2Q2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HcUgvd2RkODRSbnhIRVhvd0FBQUFCSlJVNUVya0pnZ2c9PSIsCgkiVGhlbWUiIDogIiIsCgkiVHlwZSIgOiAiZmxvdyIsCgkiVXNlcklkIiA6ICIzNzY0NDI4NTAiLAoJIlZlcnNpb24iIDogIjk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13832</Words>
  <Application>WPS 演示</Application>
  <PresentationFormat>宽屏</PresentationFormat>
  <Paragraphs>362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 2</vt:lpstr>
      <vt:lpstr>Wingdings</vt:lpstr>
      <vt:lpstr>微软雅黑 Light</vt:lpstr>
      <vt:lpstr>Calibri</vt:lpstr>
      <vt:lpstr>等线</vt:lpstr>
      <vt:lpstr>Arial Unicode MS</vt:lpstr>
      <vt:lpstr>Arial</vt:lpstr>
      <vt:lpstr>HDOfficeLightV0</vt:lpstr>
      <vt:lpstr>PowerPoint 演示文稿</vt:lpstr>
      <vt:lpstr>问题描述 </vt:lpstr>
      <vt:lpstr>问题流转</vt:lpstr>
      <vt:lpstr>问题流转</vt:lpstr>
      <vt:lpstr>问题分析1---MODEM 20251230</vt:lpstr>
      <vt:lpstr>问题分析2---MODEM 20251231</vt:lpstr>
      <vt:lpstr>问题分析3---MODEM 20251231</vt:lpstr>
      <vt:lpstr>问题分析4---AP 20260104</vt:lpstr>
      <vt:lpstr>问题分析5---GMS 20250105</vt:lpstr>
      <vt:lpstr>问题分析6---AP 20260106</vt:lpstr>
      <vt:lpstr>问题分析7---MODEM 20260106</vt:lpstr>
      <vt:lpstr>问题分析8---AP 20260106</vt:lpstr>
      <vt:lpstr>问题分析9---MODEM 20260106</vt:lpstr>
      <vt:lpstr>问题分析10---AP 20260107</vt:lpstr>
      <vt:lpstr>问题分析11---工模 20260107</vt:lpstr>
      <vt:lpstr>问题分析12---MODEM 20260107</vt:lpstr>
      <vt:lpstr>问题分析13---MODEM 20260107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Small Jingle cats</cp:lastModifiedBy>
  <cp:revision>1081</cp:revision>
  <dcterms:created xsi:type="dcterms:W3CDTF">2025-10-14T02:51:00Z</dcterms:created>
  <dcterms:modified xsi:type="dcterms:W3CDTF">2026-01-26T02:17:11Z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6BAE52488E8C4B28BE5BD8D2755AFEFB_13</vt:lpwstr>
  </property>
</Properties>
</file>