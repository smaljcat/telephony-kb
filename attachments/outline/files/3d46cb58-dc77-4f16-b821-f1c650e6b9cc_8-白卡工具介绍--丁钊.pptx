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7"/>
  </p:handoutMasterIdLst>
  <p:sldIdLst>
    <p:sldId id="373" r:id="rId3"/>
    <p:sldId id="378" r:id="rId5"/>
    <p:sldId id="388" r:id="rId6"/>
    <p:sldId id="399" r:id="rId7"/>
    <p:sldId id="410" r:id="rId8"/>
    <p:sldId id="415" r:id="rId9"/>
    <p:sldId id="416" r:id="rId10"/>
    <p:sldId id="417" r:id="rId11"/>
    <p:sldId id="385" r:id="rId12"/>
    <p:sldId id="386" r:id="rId13"/>
    <p:sldId id="412" r:id="rId14"/>
    <p:sldId id="413" r:id="rId15"/>
    <p:sldId id="371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  <a:srgbClr val="FFFFFF"/>
    <a:srgbClr val="004EA2"/>
    <a:srgbClr val="0054A6"/>
    <a:srgbClr val="DEEBF7"/>
    <a:srgbClr val="E9EDED"/>
    <a:srgbClr val="333F50"/>
    <a:srgbClr val="454C36"/>
    <a:srgbClr val="004CA1"/>
    <a:srgbClr val="0146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134" autoAdjust="0"/>
    <p:restoredTop sz="96718" autoAdjust="0"/>
  </p:normalViewPr>
  <p:slideViewPr>
    <p:cSldViewPr snapToGrid="0">
      <p:cViewPr>
        <p:scale>
          <a:sx n="100" d="100"/>
          <a:sy n="100" d="100"/>
        </p:scale>
        <p:origin x="576" y="8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5" d="100"/>
          <a:sy n="95" d="100"/>
        </p:scale>
        <p:origin x="4042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1D8579-9DC9-43DE-9734-F6933A26351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8D12F-8D06-491F-97FB-2D843C1939A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861B46-F626-455F-95A1-43140BCA96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91C07E-A0D4-4450-B132-18EF6332845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91C07E-A0D4-4450-B132-18EF633284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91C07E-A0D4-4450-B132-18EF633284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svg"/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" y="0"/>
            <a:ext cx="12190349" cy="685800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722F7-8B3D-4F59-88D6-402842697B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4F07B-A0EA-4BF6-AA3B-19EF10C4522F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形 7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59011" y="136525"/>
            <a:ext cx="1817052" cy="4345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" y="0"/>
            <a:ext cx="12190349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722F7-8B3D-4F59-88D6-402842697B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4F07B-A0EA-4BF6-AA3B-19EF10C4522F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11" name="Group 181"/>
          <p:cNvGraphicFramePr/>
          <p:nvPr userDrawn="1"/>
        </p:nvGraphicFramePr>
        <p:xfrm>
          <a:off x="515939" y="1084617"/>
          <a:ext cx="11160123" cy="1419568"/>
        </p:xfrm>
        <a:graphic>
          <a:graphicData uri="http://schemas.openxmlformats.org/drawingml/2006/table">
            <a:tbl>
              <a:tblPr/>
              <a:tblGrid>
                <a:gridCol w="1651802"/>
                <a:gridCol w="1175841"/>
                <a:gridCol w="4608261"/>
                <a:gridCol w="1569230"/>
                <a:gridCol w="2154989"/>
              </a:tblGrid>
              <a:tr h="373756">
                <a:tc gridSpan="5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alpha val="6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文档编号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alpha val="6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: </a:t>
                      </a: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R-SXX-XXX-VX.X                                                                                                                                                   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alpha val="6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最后修订日期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alpha val="6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: </a:t>
                      </a: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YYYY-MM-DD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31" marR="91431" marT="45697" marB="45697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451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F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日期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333F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31" marR="91431" marT="45697" marB="45697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F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模板版本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333F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31" marR="91431" marT="45697" marB="45697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F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修订说明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333F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31" marR="91431" marT="45697" marB="45697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F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备注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333F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31" marR="91431" marT="45697" marB="45697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F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创建人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333F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31" marR="91431" marT="45697" marB="45697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ED"/>
                    </a:solidFill>
                  </a:tcPr>
                </a:tc>
              </a:tr>
              <a:tr h="3349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20XX-XX-XX</a:t>
                      </a:r>
                      <a:endParaRPr kumimoji="0" lang="en-US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31" marR="91431" marT="45697" marB="45697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V1.0</a:t>
                      </a:r>
                      <a:endParaRPr kumimoji="0" lang="en-US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31" marR="91431" marT="45697" marB="45697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kumimoji="0" lang="zh-CN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修订</a:t>
                      </a: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xx</a:t>
                      </a:r>
                      <a:r>
                        <a:rPr kumimoji="0" lang="zh-CN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模块</a:t>
                      </a:r>
                      <a:endParaRPr kumimoji="0" lang="en-US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31" marR="91431" marT="45697" marB="45697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kumimoji="0" lang="en-US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31" marR="91431" marT="45697" marB="45697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kumimoji="0" lang="en-US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31" marR="91431" marT="45697" marB="45697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09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31" marR="91431" marT="45697" marB="45697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31" marR="91431" marT="45697" marB="45697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31" marR="91431" marT="45697" marB="45697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31" marR="91431" marT="45697" marB="45697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31" marR="91431" marT="45697" marB="45697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2" name="文本框 11"/>
          <p:cNvSpPr txBox="1"/>
          <p:nvPr userDrawn="1"/>
        </p:nvSpPr>
        <p:spPr>
          <a:xfrm>
            <a:off x="417724" y="590779"/>
            <a:ext cx="2317988" cy="309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zh-CN" sz="128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Historical Revision Summary</a:t>
            </a:r>
            <a:endParaRPr lang="zh-CN" altLang="en-US" sz="1280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" name="Rectangle 2"/>
          <p:cNvSpPr/>
          <p:nvPr userDrawn="1"/>
        </p:nvSpPr>
        <p:spPr>
          <a:xfrm>
            <a:off x="500074" y="236521"/>
            <a:ext cx="2250386" cy="4111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b="1" kern="1200">
                <a:solidFill>
                  <a:srgbClr val="003399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 kern="1200">
                <a:solidFill>
                  <a:srgbClr val="003399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b="1" kern="1200">
                <a:solidFill>
                  <a:srgbClr val="003399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 b="1" kern="1200">
                <a:solidFill>
                  <a:srgbClr val="003399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 b="1" kern="1200">
                <a:solidFill>
                  <a:srgbClr val="003399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defRPr>
            </a:lvl5pPr>
          </a:lstStyle>
          <a:p>
            <a:pPr marL="0" lvl="0" indent="0" eaLnBrk="1" hangingPunct="1">
              <a:lnSpc>
                <a:spcPct val="85000"/>
              </a:lnSpc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历史更新记录</a:t>
            </a:r>
            <a:endParaRPr lang="en-US" altLang="zh-TW" sz="2800" dirty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" y="0"/>
            <a:ext cx="12190349" cy="6858000"/>
          </a:xfrm>
          <a:prstGeom prst="rect">
            <a:avLst/>
          </a:prstGeom>
        </p:spPr>
      </p:pic>
      <p:sp>
        <p:nvSpPr>
          <p:cNvPr id="31" name="页脚占位符 3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" name="日期占位符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722F7-8B3D-4F59-88D6-402842697B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2" name="灯片编号占位符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4F07B-A0EA-4BF6-AA3B-19EF10C4522F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152707" y="6459365"/>
            <a:ext cx="1886585" cy="254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9A0DB2DC-4C9A-4742-B13C-FB6460FD3503}" type="slidenum">
              <a:rPr lang="zh-CN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362627" y="140023"/>
            <a:ext cx="13728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目录</a:t>
            </a:r>
            <a:endParaRPr kumimoji="1" lang="zh-CN" altLang="en-US" sz="4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" y="0"/>
            <a:ext cx="12190349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32105-9658-4E17-9857-105095BC4E03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矩形: 圆角 10"/>
          <p:cNvSpPr/>
          <p:nvPr userDrawn="1"/>
        </p:nvSpPr>
        <p:spPr>
          <a:xfrm>
            <a:off x="2341" y="199882"/>
            <a:ext cx="416938" cy="410542"/>
          </a:xfrm>
          <a:prstGeom prst="roundRect">
            <a:avLst>
              <a:gd name="adj" fmla="val 0"/>
            </a:avLst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5152707" y="6459365"/>
            <a:ext cx="1886585" cy="254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9A0DB2DC-4C9A-4742-B13C-FB6460FD3503}" type="slidenum">
              <a:rPr lang="zh-CN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19279" y="192509"/>
            <a:ext cx="11231546" cy="48524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196188" y="795617"/>
            <a:ext cx="11454637" cy="5499632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004EA2"/>
              </a:buClr>
              <a:buFont typeface="Wingdings" panose="05000000000000000000" pitchFamily="2" charset="2"/>
              <a:buChar char="l"/>
              <a:defRPr sz="16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" y="0"/>
            <a:ext cx="12190349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722F7-8B3D-4F59-88D6-402842697B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4F07B-A0EA-4BF6-AA3B-19EF10C452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722F7-8B3D-4F59-88D6-402842697B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4F07B-A0EA-4BF6-AA3B-19EF10C452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65722F7-8B3D-4F59-88D6-402842697B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A4F07B-A0EA-4BF6-AA3B-19EF10C4522F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5152707" y="6415405"/>
            <a:ext cx="1886585" cy="254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9A0DB2DC-4C9A-4742-B13C-FB6460FD3503}" type="slidenum">
              <a:rPr lang="zh-CN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内容占位符 2"/>
          <p:cNvSpPr txBox="1"/>
          <p:nvPr userDrawn="1"/>
        </p:nvSpPr>
        <p:spPr>
          <a:xfrm>
            <a:off x="214848" y="795617"/>
            <a:ext cx="11454637" cy="54996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4EA2"/>
              </a:buClr>
              <a:buFont typeface="Wingdings 2" panose="05020102010507070707" pitchFamily="18" charset="2"/>
              <a:buChar char=""/>
              <a:defRPr sz="1600" kern="12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anose="05020102010507070707" pitchFamily="18" charset="2"/>
              <a:buChar char="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anose="05020102010507070707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1" name="标题 1"/>
          <p:cNvSpPr txBox="1"/>
          <p:nvPr userDrawn="1"/>
        </p:nvSpPr>
        <p:spPr>
          <a:xfrm>
            <a:off x="419279" y="192511"/>
            <a:ext cx="4756288" cy="58668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rgbClr val="404040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anose="05020102010507070707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1.jpeg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7.jpeg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tags" Target="../tags/tag14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tags" Target="../tags/tag15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24.jpeg"/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tags" Target="../tags/tag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2217420"/>
            <a:ext cx="12192000" cy="976276"/>
          </a:xfrm>
          <a:prstGeom prst="rect">
            <a:avLst/>
          </a:prstGeo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rgbClr val="424638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 algn="ctr"/>
            <a:r>
              <a:rPr lang="zh-CN" sz="6500" b="1" dirty="0">
                <a:solidFill>
                  <a:schemeClr val="bg1"/>
                </a:solidFill>
              </a:rPr>
              <a:t>白卡工具介绍和使用</a:t>
            </a:r>
            <a:endParaRPr lang="zh-CN" sz="6500" b="1" dirty="0">
              <a:solidFill>
                <a:schemeClr val="bg1"/>
              </a:solidFill>
            </a:endParaRPr>
          </a:p>
        </p:txBody>
      </p:sp>
      <p:sp>
        <p:nvSpPr>
          <p:cNvPr id="5" name="副标题 2"/>
          <p:cNvSpPr txBox="1"/>
          <p:nvPr/>
        </p:nvSpPr>
        <p:spPr>
          <a:xfrm>
            <a:off x="5316918" y="4802639"/>
            <a:ext cx="3029073" cy="104395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rgbClr val="585D4B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部门：测试二部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作者：丁钊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日期：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2024.1.</a:t>
            </a:r>
            <a:r>
              <a:rPr 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24</a:t>
            </a:r>
            <a:endParaRPr 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1"/>
          <p:cNvSpPr/>
          <p:nvPr/>
        </p:nvSpPr>
        <p:spPr>
          <a:xfrm>
            <a:off x="4660265" y="2689225"/>
            <a:ext cx="4460875" cy="66738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88900" dir="4800000" sx="102000" sy="102000" algn="t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400"/>
            <a:r>
              <a:rPr lang="en-US" altLang="zh-CN" b="1" dirty="0">
                <a:solidFill>
                  <a:schemeClr val="tx1">
                    <a:alpha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  </a:t>
            </a:r>
            <a:endParaRPr lang="zh-CN" altLang="en-US" b="1" dirty="0">
              <a:solidFill>
                <a:schemeClr val="tx1">
                  <a:alpha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圆角矩形 31"/>
          <p:cNvSpPr/>
          <p:nvPr/>
        </p:nvSpPr>
        <p:spPr>
          <a:xfrm>
            <a:off x="4660265" y="1620520"/>
            <a:ext cx="4460875" cy="667385"/>
          </a:xfrm>
          <a:prstGeom prst="roundRect">
            <a:avLst/>
          </a:prstGeom>
          <a:solidFill>
            <a:srgbClr val="004EA2"/>
          </a:solidFill>
          <a:ln>
            <a:noFill/>
          </a:ln>
          <a:effectLst>
            <a:outerShdw blurRad="88900" dir="4800000" sx="102000" sy="102000" algn="t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400"/>
            <a:r>
              <a:rPr lang="en-US" altLang="zh-CN" b="1" dirty="0">
                <a:solidFill>
                  <a:schemeClr val="tx1">
                    <a:alpha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  </a:t>
            </a:r>
            <a:endParaRPr lang="zh-CN" altLang="en-US" b="1" dirty="0">
              <a:solidFill>
                <a:schemeClr val="tx1">
                  <a:alpha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4" name="圆角矩形 11"/>
          <p:cNvSpPr/>
          <p:nvPr/>
        </p:nvSpPr>
        <p:spPr>
          <a:xfrm>
            <a:off x="3667760" y="1638935"/>
            <a:ext cx="798195" cy="669290"/>
          </a:xfrm>
          <a:prstGeom prst="roundRect">
            <a:avLst/>
          </a:prstGeom>
          <a:solidFill>
            <a:srgbClr val="004EA2"/>
          </a:solidFill>
          <a:ln>
            <a:noFill/>
          </a:ln>
          <a:effectLst>
            <a:outerShdw blurRad="50800" dist="38100" dir="2700000" sx="102000" sy="102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>
              <a:defRPr/>
            </a:pP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01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776470" y="1692910"/>
            <a:ext cx="42786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工具介绍</a:t>
            </a:r>
            <a:endParaRPr kumimoji="1" lang="zh-CN" altLang="zh-CN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6" name="圆角矩形 11"/>
          <p:cNvSpPr/>
          <p:nvPr/>
        </p:nvSpPr>
        <p:spPr>
          <a:xfrm>
            <a:off x="3667760" y="2681605"/>
            <a:ext cx="791845" cy="66929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2700000" sx="102000" sy="102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>
              <a:defRPr/>
            </a:pPr>
            <a:r>
              <a:rPr lang="en-US" altLang="zh-CN" sz="32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02</a:t>
            </a:r>
            <a:endParaRPr lang="en-US" altLang="zh-CN" sz="3200" b="1" dirty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776470" y="2765425"/>
            <a:ext cx="40900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工具使用</a:t>
            </a:r>
            <a:endParaRPr kumimoji="1"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9" name="箭头: 右 28"/>
          <p:cNvSpPr/>
          <p:nvPr/>
        </p:nvSpPr>
        <p:spPr>
          <a:xfrm>
            <a:off x="2594610" y="1641475"/>
            <a:ext cx="581660" cy="667385"/>
          </a:xfrm>
          <a:prstGeom prst="rightArrow">
            <a:avLst>
              <a:gd name="adj1" fmla="val 50000"/>
              <a:gd name="adj2" fmla="val 53084"/>
            </a:avLst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90550" y="923925"/>
            <a:ext cx="96285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1.GRSIMWrite------</a:t>
            </a:r>
            <a:r>
              <a:rPr lang="zh-CN" altLang="en-US"/>
              <a:t>用于修改白卡</a:t>
            </a:r>
            <a:r>
              <a:rPr lang="en-US" altLang="zh-CN"/>
              <a:t>MCCMNC</a:t>
            </a:r>
            <a:r>
              <a:rPr lang="zh-CN" altLang="en-US"/>
              <a:t>、</a:t>
            </a:r>
            <a:r>
              <a:rPr lang="en-US" altLang="zh-CN"/>
              <a:t>SPN</a:t>
            </a:r>
            <a:r>
              <a:rPr lang="zh-CN" altLang="en-US"/>
              <a:t>、</a:t>
            </a:r>
            <a:r>
              <a:rPr lang="en-US" altLang="zh-CN"/>
              <a:t>ICCID</a:t>
            </a:r>
            <a:r>
              <a:rPr lang="zh-CN" altLang="en-US"/>
              <a:t>等</a:t>
            </a:r>
            <a:endParaRPr lang="zh-CN" altLang="en-US"/>
          </a:p>
          <a:p>
            <a:r>
              <a:rPr lang="zh-CN" altLang="en-US"/>
              <a:t>   工具路径：\\192.168.3.127\127\13_Test\02_Tools\01-common\01-MCCMNC写卡软件</a:t>
            </a:r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kumimoji="1" lang="zh-CN" altLang="zh-CN" dirty="0">
                <a:solidFill>
                  <a:schemeClr val="tx1"/>
                </a:solidFill>
                <a:cs typeface="+mn-ea"/>
                <a:sym typeface="+mn-lt"/>
              </a:rPr>
              <a:t>工具介绍</a:t>
            </a:r>
            <a:endParaRPr kumimoji="1" lang="zh-CN" altLang="zh-CN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10" y="1858010"/>
            <a:ext cx="7931150" cy="45796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1005" y="677545"/>
            <a:ext cx="771525" cy="7905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90550" y="923925"/>
            <a:ext cx="7940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</a:t>
            </a:r>
            <a:r>
              <a:rPr lang="zh-CN" altLang="en-US"/>
              <a:t>白卡、白卡工具、借还登记表</a:t>
            </a:r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kumimoji="1" lang="zh-CN" altLang="zh-CN" dirty="0">
                <a:solidFill>
                  <a:schemeClr val="tx1"/>
                </a:solidFill>
                <a:cs typeface="+mn-ea"/>
                <a:sym typeface="+mn-lt"/>
              </a:rPr>
              <a:t>工具介绍</a:t>
            </a:r>
            <a:endParaRPr kumimoji="1" lang="zh-CN" altLang="zh-CN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pic>
        <p:nvPicPr>
          <p:cNvPr id="6" name="图片 5" descr="330f1b87-4026-442d-9d63-b33aaadfabc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1548765"/>
            <a:ext cx="3382645" cy="4510405"/>
          </a:xfrm>
          <a:prstGeom prst="rect">
            <a:avLst/>
          </a:prstGeom>
        </p:spPr>
      </p:pic>
      <p:pic>
        <p:nvPicPr>
          <p:cNvPr id="7" name="图片 6" descr="8f88f1a7-610a-4b74-862e-815f3b1a42c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265" y="1548765"/>
            <a:ext cx="3406775" cy="4542155"/>
          </a:xfrm>
          <a:prstGeom prst="rect">
            <a:avLst/>
          </a:prstGeom>
        </p:spPr>
      </p:pic>
      <p:pic>
        <p:nvPicPr>
          <p:cNvPr id="8" name="图片 7" descr="67931d97-1b1a-4fcb-b58a-1c1d16e685b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930" y="1548765"/>
            <a:ext cx="3447415" cy="45967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90550" y="923925"/>
            <a:ext cx="1113853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GMS测试卡是一种用于测试全球移动通信系统（GSM）网络的工具。它通常是一个小型的卡片，类似于SIM卡，可以插入到手机或其他设备中。GMS测试卡可以用于检测网络连接、信号质量、数据传输速度、漫游功能等。它还可以用于测试不同国家和地区的GSM网络，以确保设备在全球范围内获得良好的连接。</a:t>
            </a:r>
            <a:endParaRPr lang="en-US" altLang="zh-CN"/>
          </a:p>
          <a:p>
            <a:endParaRPr lang="zh-CN" altLang="en-US"/>
          </a:p>
          <a:p>
            <a:r>
              <a:rPr lang="zh-CN" altLang="en-US"/>
              <a:t>GMS测试卡通常由专业的无线通信公司或测试设备制造商提供，用于网络运营商、设备制造商和测试工程师进行网络性能测试和故障诊断。它可以帮助用户发现并解决GSM网络中的问题，确保设备在不同环境中都能正常运行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总的来说，GMS测试卡是一个方便实用的工具，可以帮助用户测试和优化GSM网络的性能，确保设备在全球范围内的连接质量和稳定性。</a:t>
            </a:r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kumimoji="1" lang="zh-CN" altLang="zh-CN" dirty="0">
                <a:solidFill>
                  <a:schemeClr val="tx1"/>
                </a:solidFill>
                <a:cs typeface="+mn-ea"/>
                <a:sym typeface="+mn-lt"/>
              </a:rPr>
              <a:t>工具介绍</a:t>
            </a:r>
            <a:endParaRPr kumimoji="1" lang="zh-CN" altLang="zh-CN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3896360"/>
            <a:ext cx="3583305" cy="26676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90550" y="923925"/>
            <a:ext cx="1113853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.IMSI（国际移动用户识别码）是全球移动通信系统（GSM）和通用移动电信服务（UMTS）等移动通信系统中使用的一个唯一标识符。IMSI用于识别移动通信网络中的每个用户，其结构由三部分组成：MCC（移动国家码）、MNC（移动网络码）和MSIN（移动用户识别号码）。IMSI通常存储在SIM卡中，并与设备的IMEI（国际移动设备标识）一起用于识别用户并连接到移动网络。IMSI的安全性非常重要，因为它可以被用于识别用户、进行位置跟踪和网络连接。</a:t>
            </a:r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kumimoji="1" lang="zh-CN" altLang="zh-CN" dirty="0">
                <a:solidFill>
                  <a:schemeClr val="tx1"/>
                </a:solidFill>
                <a:cs typeface="+mn-ea"/>
                <a:sym typeface="+mn-lt"/>
              </a:rPr>
              <a:t>工具介绍</a:t>
            </a:r>
            <a:endParaRPr kumimoji="1" lang="zh-CN" altLang="zh-CN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2745105"/>
            <a:ext cx="5240020" cy="303339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25" y="2745105"/>
            <a:ext cx="5407660" cy="3114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90550" y="923925"/>
            <a:ext cx="1113853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5.SPN（Service Provider Name）指的是服务提供商名称，它是SIM卡中用来识别和显示运营商名称的标识。在手机屏幕上，SPN通常用来显示当前SIM卡所属的运营商名称。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ECC（Emergency Call Code）是SIM卡中预先设定的紧急呼叫代码。这些代码可以用于在没有信号的情况下，例如漫游或者网络故障时，仍然能够发出紧急呼叫。通常情况下，ECC代码是国际上通用的，能够在大多数手机网络上使用。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kumimoji="1" lang="zh-CN" altLang="zh-CN" dirty="0">
                <a:solidFill>
                  <a:schemeClr val="tx1"/>
                </a:solidFill>
                <a:cs typeface="+mn-ea"/>
                <a:sym typeface="+mn-lt"/>
              </a:rPr>
              <a:t>工具介绍</a:t>
            </a:r>
            <a:endParaRPr kumimoji="1" lang="zh-CN" altLang="zh-CN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2943860"/>
            <a:ext cx="9792335" cy="12846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4316095"/>
            <a:ext cx="8373745" cy="25222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90550" y="923925"/>
            <a:ext cx="111385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6.</a:t>
            </a:r>
            <a:r>
              <a:rPr lang="zh-CN" altLang="en-US"/>
              <a:t>ICCID(Integrate circuit card identity)集成电路卡识别码即SIM卡卡号，相当于手机卡的身份证。 ICCID为IC卡的识别号码，共由20位字符组成，其编码格式为：XXXXXX 0MFSS YYGXX XXXX。分别介绍如下： 前六位运营商代码：中国移动的为：898600；898602；898604；898607 ，中国联通的为：898601、898606、898609，中国电信898603、898611。</a:t>
            </a:r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kumimoji="1" lang="zh-CN" altLang="zh-CN" dirty="0">
                <a:solidFill>
                  <a:schemeClr val="tx1"/>
                </a:solidFill>
                <a:cs typeface="+mn-ea"/>
                <a:sym typeface="+mn-lt"/>
              </a:rPr>
              <a:t>工具介绍</a:t>
            </a:r>
            <a:endParaRPr kumimoji="1" lang="zh-CN" altLang="zh-CN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890" y="2806065"/>
            <a:ext cx="7734300" cy="13811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4" name="组合 23"/>
          <p:cNvGrpSpPr/>
          <p:nvPr/>
        </p:nvGrpSpPr>
        <p:grpSpPr>
          <a:xfrm>
            <a:off x="3667760" y="2729230"/>
            <a:ext cx="5453380" cy="687705"/>
            <a:chOff x="5776" y="2552"/>
            <a:chExt cx="8588" cy="1083"/>
          </a:xfrm>
        </p:grpSpPr>
        <p:sp>
          <p:nvSpPr>
            <p:cNvPr id="13" name="圆角矩形 31"/>
            <p:cNvSpPr/>
            <p:nvPr>
              <p:custDataLst>
                <p:tags r:id="rId1"/>
              </p:custDataLst>
            </p:nvPr>
          </p:nvSpPr>
          <p:spPr>
            <a:xfrm>
              <a:off x="7339" y="2552"/>
              <a:ext cx="7025" cy="1051"/>
            </a:xfrm>
            <a:prstGeom prst="roundRect">
              <a:avLst/>
            </a:prstGeom>
            <a:solidFill>
              <a:srgbClr val="004EA2"/>
            </a:solidFill>
            <a:ln>
              <a:noFill/>
            </a:ln>
            <a:effectLst>
              <a:outerShdw blurRad="88900" dir="4800000" sx="102000" sy="102000" algn="t" rotWithShape="0">
                <a:prstClr val="black">
                  <a:alpha val="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defTabSz="914400"/>
              <a:r>
                <a:rPr lang="en-US" altLang="zh-CN" b="1" dirty="0">
                  <a:solidFill>
                    <a:schemeClr val="tx1">
                      <a:alpha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  </a:t>
              </a:r>
              <a:endParaRPr lang="zh-CN" altLang="en-US" b="1" dirty="0">
                <a:solidFill>
                  <a:schemeClr val="tx1">
                    <a:alpha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4" name="圆角矩形 11"/>
            <p:cNvSpPr/>
            <p:nvPr>
              <p:custDataLst>
                <p:tags r:id="rId2"/>
              </p:custDataLst>
            </p:nvPr>
          </p:nvSpPr>
          <p:spPr>
            <a:xfrm>
              <a:off x="5776" y="2581"/>
              <a:ext cx="1257" cy="1054"/>
            </a:xfrm>
            <a:prstGeom prst="roundRect">
              <a:avLst/>
            </a:prstGeom>
            <a:solidFill>
              <a:srgbClr val="004EA2"/>
            </a:solidFill>
            <a:ln>
              <a:noFill/>
            </a:ln>
            <a:effectLst>
              <a:outerShdw blurRad="50800" dist="38100" dir="2700000" sx="102000" sy="102000" algn="tl" rotWithShape="0">
                <a:prstClr val="black">
                  <a:alpha val="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1219200">
                <a:defRPr/>
              </a:pPr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02</a:t>
              </a:r>
              <a:endPara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8" name="文本框 7"/>
            <p:cNvSpPr txBox="1"/>
            <p:nvPr>
              <p:custDataLst>
                <p:tags r:id="rId3"/>
              </p:custDataLst>
            </p:nvPr>
          </p:nvSpPr>
          <p:spPr>
            <a:xfrm>
              <a:off x="7522" y="2666"/>
              <a:ext cx="673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kumimoji="1" lang="zh-CN" altLang="zh-CN" sz="2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工具使用</a:t>
              </a:r>
              <a:endParaRPr kumimoji="1" lang="zh-CN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3669030" y="1634490"/>
            <a:ext cx="5452745" cy="674370"/>
            <a:chOff x="5776" y="4223"/>
            <a:chExt cx="8588" cy="1063"/>
          </a:xfrm>
        </p:grpSpPr>
        <p:sp>
          <p:nvSpPr>
            <p:cNvPr id="3" name="圆角矩形 31"/>
            <p:cNvSpPr/>
            <p:nvPr>
              <p:custDataLst>
                <p:tags r:id="rId4"/>
              </p:custDataLst>
            </p:nvPr>
          </p:nvSpPr>
          <p:spPr>
            <a:xfrm>
              <a:off x="7339" y="4235"/>
              <a:ext cx="7025" cy="105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88900" dir="4800000" sx="102000" sy="102000" algn="t" rotWithShape="0">
                <a:prstClr val="black">
                  <a:alpha val="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defTabSz="914400"/>
              <a:r>
                <a:rPr lang="en-US" altLang="zh-CN" b="1" dirty="0">
                  <a:solidFill>
                    <a:schemeClr val="tx1">
                      <a:alpha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  </a:t>
              </a:r>
              <a:endParaRPr lang="zh-CN" altLang="en-US" b="1" dirty="0">
                <a:solidFill>
                  <a:schemeClr val="tx1">
                    <a:alpha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6" name="圆角矩形 11"/>
            <p:cNvSpPr/>
            <p:nvPr>
              <p:custDataLst>
                <p:tags r:id="rId5"/>
              </p:custDataLst>
            </p:nvPr>
          </p:nvSpPr>
          <p:spPr>
            <a:xfrm>
              <a:off x="5776" y="4223"/>
              <a:ext cx="1247" cy="1054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dir="2700000" sx="102000" sy="102000" algn="tl" rotWithShape="0">
                <a:prstClr val="black">
                  <a:alpha val="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1219200">
                <a:defRPr/>
              </a:pPr>
              <a:r>
                <a:rPr lang="en-US" altLang="zh-CN" sz="3200" b="1" dirty="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01</a:t>
              </a:r>
              <a:endParaRPr lang="en-US" altLang="zh-CN" sz="32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6"/>
              </p:custDataLst>
            </p:nvPr>
          </p:nvSpPr>
          <p:spPr>
            <a:xfrm>
              <a:off x="7522" y="4355"/>
              <a:ext cx="6441" cy="8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kumimoji="1"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工具介绍</a:t>
              </a:r>
              <a:endPara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29" name="箭头: 右 28"/>
          <p:cNvSpPr/>
          <p:nvPr>
            <p:custDataLst>
              <p:tags r:id="rId7"/>
            </p:custDataLst>
          </p:nvPr>
        </p:nvSpPr>
        <p:spPr>
          <a:xfrm>
            <a:off x="2594610" y="2729230"/>
            <a:ext cx="581660" cy="667385"/>
          </a:xfrm>
          <a:prstGeom prst="rightArrow">
            <a:avLst>
              <a:gd name="adj1" fmla="val 50000"/>
              <a:gd name="adj2" fmla="val 53084"/>
            </a:avLst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kumimoji="1" lang="zh-CN" altLang="en-US" dirty="0">
                <a:solidFill>
                  <a:schemeClr val="tx1"/>
                </a:solidFill>
                <a:cs typeface="+mn-ea"/>
                <a:sym typeface="+mn-lt"/>
              </a:rPr>
              <a:t>工具使用</a:t>
            </a:r>
            <a:endParaRPr kumimoji="1" lang="zh-CN" altLang="en-US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4350" y="720725"/>
            <a:ext cx="10114280" cy="17221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写卡工具连接</a:t>
            </a:r>
            <a:r>
              <a:rPr 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PC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插入白卡；</a:t>
            </a:r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打开GRSIMWrite.exe，填写测试所需数据，点击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Write Card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/>
          </a:p>
          <a:p>
            <a:pPr indent="406400" fontAlgn="auto">
              <a:extLst>
                <a:ext uri="{35155182-B16C-46BC-9424-99874614C6A1}">
                  <wpsdc:indentchars xmlns:wpsdc="http://www.wps.cn/officeDocument/2017/drawingmlCustomData" val="200" checksum="1740828767"/>
                </a:ext>
              </a:extLst>
            </a:pP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015" y="1960880"/>
            <a:ext cx="5688330" cy="327596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1960880"/>
            <a:ext cx="5275580" cy="31203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kumimoji="1" lang="zh-CN" altLang="en-US" dirty="0">
                <a:solidFill>
                  <a:schemeClr val="tx1"/>
                </a:solidFill>
                <a:cs typeface="+mn-ea"/>
                <a:sym typeface="+mn-lt"/>
              </a:rPr>
              <a:t>工具使用</a:t>
            </a:r>
            <a:endParaRPr kumimoji="1" lang="zh-CN" altLang="en-US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4350" y="720725"/>
            <a:ext cx="10114280" cy="22764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MCCMNC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网址：https://blog.csdn.net/wds1181977/article/details/71352464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语言网址：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https://blog.csdn.net/fugang1230/article/details/74452018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/>
          </a:p>
          <a:p>
            <a:pPr indent="406400" fontAlgn="auto">
              <a:extLst>
                <a:ext uri="{35155182-B16C-46BC-9424-99874614C6A1}">
                  <wpsdc:indentchars xmlns:wpsdc="http://www.wps.cn/officeDocument/2017/drawingmlCustomData" val="200" checksum="1740828767"/>
                </a:ext>
              </a:extLst>
            </a:pP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876425"/>
            <a:ext cx="4925695" cy="463359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015" y="1799590"/>
            <a:ext cx="4970145" cy="47104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kumimoji="1" lang="zh-CN" altLang="en-US" dirty="0">
                <a:solidFill>
                  <a:schemeClr val="tx1"/>
                </a:solidFill>
                <a:cs typeface="+mn-ea"/>
                <a:sym typeface="+mn-lt"/>
              </a:rPr>
              <a:t>工具使用</a:t>
            </a:r>
            <a:endParaRPr kumimoji="1" lang="zh-CN" altLang="en-US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4350" y="720725"/>
            <a:ext cx="10114280" cy="22764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基本功能测试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客户需求测试（锁网需求、非锁网需求）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/>
          </a:p>
          <a:p>
            <a:pPr indent="406400" fontAlgn="auto">
              <a:extLst>
                <a:ext uri="{35155182-B16C-46BC-9424-99874614C6A1}">
                  <wpsdc:indentchars xmlns:wpsdc="http://www.wps.cn/officeDocument/2017/drawingmlCustomData" val="200" checksum="1740828767"/>
                </a:ext>
              </a:extLst>
            </a:pP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60" y="2033905"/>
            <a:ext cx="10677525" cy="12668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60" y="3463290"/>
            <a:ext cx="3093720" cy="33140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645" y="3463290"/>
            <a:ext cx="6548755" cy="33140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1390</Words>
  <Application>WPS 演示</Application>
  <PresentationFormat>宽屏</PresentationFormat>
  <Paragraphs>96</Paragraphs>
  <Slides>13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Wingdings 2</vt:lpstr>
      <vt:lpstr>微软雅黑 Light</vt:lpstr>
      <vt:lpstr>Wingdings</vt:lpstr>
      <vt:lpstr>Arial Unicode MS</vt:lpstr>
      <vt:lpstr>Calibri</vt:lpstr>
      <vt:lpstr>等线</vt:lpstr>
      <vt:lpstr>HDOfficeLightV0</vt:lpstr>
      <vt:lpstr>PowerPoint 演示文稿</vt:lpstr>
      <vt:lpstr>PowerPoint 演示文稿</vt:lpstr>
      <vt:lpstr>工具介绍</vt:lpstr>
      <vt:lpstr>工具介绍</vt:lpstr>
      <vt:lpstr>工具介绍</vt:lpstr>
      <vt:lpstr>工具介绍</vt:lpstr>
      <vt:lpstr>工具介绍</vt:lpstr>
      <vt:lpstr>工具介绍</vt:lpstr>
      <vt:lpstr>PowerPoint 演示文稿</vt:lpstr>
      <vt:lpstr>工具使用</vt:lpstr>
      <vt:lpstr>工具使用</vt:lpstr>
      <vt:lpstr>工具使用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Dz</cp:lastModifiedBy>
  <cp:revision>680</cp:revision>
  <dcterms:created xsi:type="dcterms:W3CDTF">2017-12-12T08:20:00Z</dcterms:created>
  <dcterms:modified xsi:type="dcterms:W3CDTF">2024-07-20T02:39:19Z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5CD93E0AC8D64318AEE98E7A4BE1FBDD_13</vt:lpwstr>
  </property>
  <property fmtid="{D5CDD505-2E9C-101B-9397-08002B2CF9AE}" pid="3" name="KSOProductBuildVer">
    <vt:lpwstr>2052-12.1.0.17133</vt:lpwstr>
  </property>
</Properties>
</file>