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5"/>
  </p:notesMasterIdLst>
  <p:handoutMasterIdLst>
    <p:handoutMasterId r:id="rId21"/>
  </p:handoutMasterIdLst>
  <p:sldIdLst>
    <p:sldId id="373" r:id="rId4"/>
    <p:sldId id="378" r:id="rId6"/>
    <p:sldId id="382" r:id="rId7"/>
    <p:sldId id="441" r:id="rId8"/>
    <p:sldId id="442" r:id="rId9"/>
    <p:sldId id="443" r:id="rId10"/>
    <p:sldId id="445" r:id="rId11"/>
    <p:sldId id="446" r:id="rId12"/>
    <p:sldId id="444" r:id="rId13"/>
    <p:sldId id="447" r:id="rId14"/>
    <p:sldId id="448" r:id="rId15"/>
    <p:sldId id="449" r:id="rId16"/>
    <p:sldId id="450" r:id="rId17"/>
    <p:sldId id="425" r:id="rId18"/>
    <p:sldId id="394" r:id="rId19"/>
    <p:sldId id="371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A1"/>
    <a:srgbClr val="004EA2"/>
    <a:srgbClr val="FFFFFF"/>
    <a:srgbClr val="404040"/>
    <a:srgbClr val="0054A6"/>
    <a:srgbClr val="DEEBF7"/>
    <a:srgbClr val="E9EDED"/>
    <a:srgbClr val="333F50"/>
    <a:srgbClr val="454C36"/>
    <a:srgbClr val="0146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34" autoAdjust="0"/>
    <p:restoredTop sz="96718" autoAdjust="0"/>
  </p:normalViewPr>
  <p:slideViewPr>
    <p:cSldViewPr snapToGrid="0">
      <p:cViewPr>
        <p:scale>
          <a:sx n="100" d="100"/>
          <a:sy n="100" d="100"/>
        </p:scale>
        <p:origin x="576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42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23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D8579-9DC9-43DE-9734-F6933A26351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8D12F-8D06-491F-97FB-2D843C1939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61B46-F626-455F-95A1-43140BCA96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91C07E-A0D4-4450-B132-18EF6332845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sv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9011" y="136525"/>
            <a:ext cx="1817052" cy="4345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90349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1" name="Group 181"/>
          <p:cNvGraphicFramePr/>
          <p:nvPr userDrawn="1"/>
        </p:nvGraphicFramePr>
        <p:xfrm>
          <a:off x="515939" y="1084617"/>
          <a:ext cx="11160123" cy="1419568"/>
        </p:xfrm>
        <a:graphic>
          <a:graphicData uri="http://schemas.openxmlformats.org/drawingml/2006/table">
            <a:tbl>
              <a:tblPr/>
              <a:tblGrid>
                <a:gridCol w="1651802"/>
                <a:gridCol w="1175841"/>
                <a:gridCol w="4608261"/>
                <a:gridCol w="1569230"/>
                <a:gridCol w="2154989"/>
              </a:tblGrid>
              <a:tr h="373756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文档编号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R-SXX-XXX-VX.X                                                                                                                                                  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最后修订日期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YYYY-MM-DD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5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日期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模板版本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修订说明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备注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创建人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</a:tr>
              <a:tr h="33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20XX-XX-XX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V1.0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修订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xx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模块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9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 userDrawn="1"/>
        </p:nvSpPr>
        <p:spPr>
          <a:xfrm>
            <a:off x="417724" y="590779"/>
            <a:ext cx="2317988" cy="309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28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Historical Revision Summary</a:t>
            </a:r>
            <a:endParaRPr lang="zh-CN" altLang="en-US" sz="128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Rectangle 2"/>
          <p:cNvSpPr/>
          <p:nvPr userDrawn="1"/>
        </p:nvSpPr>
        <p:spPr>
          <a:xfrm>
            <a:off x="500074" y="236521"/>
            <a:ext cx="2250386" cy="4111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</a:rPr>
              <a:t>历史更新记录</a:t>
            </a:r>
            <a:endParaRPr lang="en-US" altLang="zh-TW" sz="2800" dirty="0">
              <a:solidFill>
                <a:srgbClr val="40404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62627" y="140023"/>
            <a:ext cx="1372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目录</a:t>
            </a:r>
            <a:endParaRPr kumimoji="1"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2105-9658-4E17-9857-105095BC4E0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: 圆角 10"/>
          <p:cNvSpPr/>
          <p:nvPr userDrawn="1"/>
        </p:nvSpPr>
        <p:spPr>
          <a:xfrm>
            <a:off x="2341" y="199882"/>
            <a:ext cx="416938" cy="410542"/>
          </a:xfrm>
          <a:prstGeom prst="roundRect">
            <a:avLst>
              <a:gd name="adj" fmla="val 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19279" y="192509"/>
            <a:ext cx="11231546" cy="4852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19618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004EA2"/>
              </a:buClr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形 7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9011" y="136525"/>
            <a:ext cx="1817052" cy="4345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90349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1" name="Group 181"/>
          <p:cNvGraphicFramePr/>
          <p:nvPr userDrawn="1"/>
        </p:nvGraphicFramePr>
        <p:xfrm>
          <a:off x="515939" y="1084617"/>
          <a:ext cx="11160123" cy="1419568"/>
        </p:xfrm>
        <a:graphic>
          <a:graphicData uri="http://schemas.openxmlformats.org/drawingml/2006/table">
            <a:tbl>
              <a:tblPr/>
              <a:tblGrid>
                <a:gridCol w="1651802"/>
                <a:gridCol w="1175841"/>
                <a:gridCol w="4608261"/>
                <a:gridCol w="1569230"/>
                <a:gridCol w="2154989"/>
              </a:tblGrid>
              <a:tr h="373756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文档编号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R-SXX-XXX-VX.X                                                                                                                                                  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最后修订日期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alpha val="60000"/>
                            </a:schemeClr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: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YYYY-MM-DD</a:t>
                      </a:r>
                      <a:endParaRPr kumimoji="0" lang="zh-CN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45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日期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模板版本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修订说明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备注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F5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创建人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333F5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ED"/>
                    </a:solidFill>
                  </a:tcPr>
                </a:tc>
              </a:tr>
              <a:tr h="3349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20XX-XX-XX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V1.0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修订</a:t>
                      </a: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xx</a:t>
                      </a:r>
                      <a:r>
                        <a:rPr kumimoji="0" lang="zh-CN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模块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charset="-122"/>
                          <a:ea typeface="Microsoft YaHei" panose="020B0503020204020204" charset="-122"/>
                        </a:rPr>
                        <a:t>XXX</a:t>
                      </a:r>
                      <a:endParaRPr kumimoji="0" lang="en-US" altLang="zh-CN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909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91431" marR="91431" marT="45697" marB="45697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 userDrawn="1"/>
        </p:nvSpPr>
        <p:spPr>
          <a:xfrm>
            <a:off x="417724" y="590779"/>
            <a:ext cx="2317988" cy="309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CN" sz="128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Historical Revision Summary</a:t>
            </a:r>
            <a:endParaRPr lang="zh-CN" altLang="en-US" sz="1280" dirty="0">
              <a:solidFill>
                <a:schemeClr val="tx1">
                  <a:lumMod val="50000"/>
                  <a:lumOff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" name="Rectangle 2"/>
          <p:cNvSpPr/>
          <p:nvPr userDrawn="1"/>
        </p:nvSpPr>
        <p:spPr>
          <a:xfrm>
            <a:off x="500074" y="236521"/>
            <a:ext cx="2250386" cy="4111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 b="1" kern="12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85000"/>
              </a:lnSpc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</a:rPr>
              <a:t>历史更新记录</a:t>
            </a:r>
            <a:endParaRPr lang="en-US" altLang="zh-TW" sz="2800" dirty="0">
              <a:solidFill>
                <a:srgbClr val="40404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31" name="页脚占位符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362627" y="140023"/>
            <a:ext cx="1372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目录</a:t>
            </a:r>
            <a:endParaRPr kumimoji="1"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32105-9658-4E17-9857-105095BC4E0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: 圆角 10"/>
          <p:cNvSpPr/>
          <p:nvPr userDrawn="1"/>
        </p:nvSpPr>
        <p:spPr>
          <a:xfrm>
            <a:off x="2341" y="199882"/>
            <a:ext cx="416938" cy="410542"/>
          </a:xfrm>
          <a:prstGeom prst="roundRect">
            <a:avLst>
              <a:gd name="adj" fmla="val 0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5152707" y="645936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19279" y="192509"/>
            <a:ext cx="11231546" cy="48524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19618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004EA2"/>
              </a:buClr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" y="0"/>
            <a:ext cx="12190349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152707" y="641540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内容占位符 2"/>
          <p:cNvSpPr txBox="1"/>
          <p:nvPr userDrawn="1"/>
        </p:nvSpPr>
        <p:spPr>
          <a:xfrm>
            <a:off x="21484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EA2"/>
              </a:buClr>
              <a:buFont typeface="Wingdings 2" panose="05020102010507070707" pitchFamily="18" charset="2"/>
              <a:buChar char=""/>
              <a:defRPr sz="1600" kern="120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标题 1"/>
          <p:cNvSpPr txBox="1"/>
          <p:nvPr userDrawn="1"/>
        </p:nvSpPr>
        <p:spPr>
          <a:xfrm>
            <a:off x="419279" y="192511"/>
            <a:ext cx="4756288" cy="5866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404040"/>
          </a:solidFill>
          <a:latin typeface="Microsoft YaHei" panose="020B0503020204020204" charset="-122"/>
          <a:ea typeface="Microsoft YaHei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5722F7-8B3D-4F59-88D6-402842697B5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4F07B-A0EA-4BF6-AA3B-19EF10C4522F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5152707" y="6415405"/>
            <a:ext cx="1886585" cy="254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9A0DB2DC-4C9A-4742-B13C-FB6460FD3503}" type="slidenum">
              <a:rPr lang="zh-CN" alt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rPr>
            </a:fld>
            <a:endParaRPr lang="zh-CN" alt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内容占位符 2"/>
          <p:cNvSpPr txBox="1"/>
          <p:nvPr userDrawn="1"/>
        </p:nvSpPr>
        <p:spPr>
          <a:xfrm>
            <a:off x="214848" y="795617"/>
            <a:ext cx="11454637" cy="54996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EA2"/>
              </a:buClr>
              <a:buFont typeface="Wingdings 2" panose="05020102010507070707" pitchFamily="18" charset="2"/>
              <a:buChar char=""/>
              <a:defRPr sz="1600" kern="120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标题 1"/>
          <p:cNvSpPr txBox="1"/>
          <p:nvPr userDrawn="1"/>
        </p:nvSpPr>
        <p:spPr>
          <a:xfrm>
            <a:off x="419279" y="192511"/>
            <a:ext cx="4756288" cy="5866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404040"/>
          </a:solidFill>
          <a:latin typeface="Microsoft YaHei" panose="020B0503020204020204" charset="-122"/>
          <a:ea typeface="Microsoft YaHei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8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2217420"/>
            <a:ext cx="12192000" cy="976276"/>
          </a:xfrm>
          <a:prstGeom prst="rect">
            <a:avLst/>
          </a:prstGeo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rgbClr val="424638"/>
                </a:solidFill>
                <a:latin typeface="Microsoft YaHei" panose="020B0503020204020204" charset="-122"/>
                <a:ea typeface="Microsoft YaHei" panose="020B0503020204020204" charset="-122"/>
                <a:cs typeface="+mj-cs"/>
              </a:defRPr>
            </a:lvl1pPr>
          </a:lstStyle>
          <a:p>
            <a:pPr algn="ctr"/>
            <a:r>
              <a:rPr lang="zh-CN" altLang="en-US" sz="5400" b="1" dirty="0">
                <a:solidFill>
                  <a:schemeClr val="bg1"/>
                </a:solidFill>
              </a:rPr>
              <a:t>展锐</a:t>
            </a:r>
            <a:r>
              <a:rPr lang="en-US" altLang="zh-CN" sz="5400" b="1" dirty="0">
                <a:solidFill>
                  <a:schemeClr val="bg1"/>
                </a:solidFill>
              </a:rPr>
              <a:t>Modem NV</a:t>
            </a:r>
            <a:r>
              <a:rPr lang="zh-CN" altLang="en-US" sz="5400" b="1" dirty="0">
                <a:solidFill>
                  <a:schemeClr val="bg1"/>
                </a:solidFill>
              </a:rPr>
              <a:t>修改以及注释添加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5316918" y="4802639"/>
            <a:ext cx="3029073" cy="10439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rgbClr val="585D4B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部门：软件</a:t>
            </a:r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二部</a:t>
            </a:r>
            <a:endParaRPr lang="zh-CN" altLang="en-US" sz="16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作者：徐佳鑫</a:t>
            </a:r>
            <a:endParaRPr lang="zh-CN" altLang="en-US" sz="16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CN" altLang="en-US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日期：</a:t>
            </a:r>
            <a:r>
              <a:rPr lang="en-US" altLang="zh-CN" sz="16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2024/05/14</a:t>
            </a:r>
            <a:endParaRPr lang="zh-CN" altLang="en-US" sz="16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31"/>
          <p:cNvSpPr/>
          <p:nvPr/>
        </p:nvSpPr>
        <p:spPr>
          <a:xfrm>
            <a:off x="4753151" y="3484827"/>
            <a:ext cx="4460726" cy="6676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zh-CN" altLang="en-US" b="1" dirty="0">
              <a:solidFill>
                <a:schemeClr val="tx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2" name="圆角矩形 31"/>
          <p:cNvSpPr/>
          <p:nvPr/>
        </p:nvSpPr>
        <p:spPr>
          <a:xfrm>
            <a:off x="4753151" y="2641665"/>
            <a:ext cx="4460726" cy="6676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zh-CN" altLang="en-US" b="1" dirty="0">
              <a:solidFill>
                <a:schemeClr val="tx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3" name="圆角矩形 31"/>
          <p:cNvSpPr/>
          <p:nvPr/>
        </p:nvSpPr>
        <p:spPr>
          <a:xfrm>
            <a:off x="4753151" y="1791958"/>
            <a:ext cx="4460726" cy="667657"/>
          </a:xfrm>
          <a:prstGeom prst="roundRect">
            <a:avLst/>
          </a:prstGeom>
          <a:solidFill>
            <a:srgbClr val="004EA2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zh-CN" altLang="en-US" b="1" dirty="0">
              <a:solidFill>
                <a:schemeClr val="tx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4" name="圆角矩形 11"/>
          <p:cNvSpPr/>
          <p:nvPr>
            <p:custDataLst>
              <p:tags r:id="rId1"/>
            </p:custDataLst>
          </p:nvPr>
        </p:nvSpPr>
        <p:spPr>
          <a:xfrm>
            <a:off x="3760665" y="1810679"/>
            <a:ext cx="798287" cy="669600"/>
          </a:xfrm>
          <a:prstGeom prst="roundRect">
            <a:avLst/>
          </a:prstGeom>
          <a:solidFill>
            <a:srgbClr val="004EA2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01</a:t>
            </a:r>
            <a:endParaRPr lang="en-US" altLang="zh-CN" sz="32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4869317" y="1864177"/>
            <a:ext cx="307739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Modem NV</a:t>
            </a: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修改</a:t>
            </a:r>
            <a:endParaRPr kumimoji="1" lang="zh-CN" altLang="en-US" sz="28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6" name="圆角矩形 11"/>
          <p:cNvSpPr/>
          <p:nvPr>
            <p:custDataLst>
              <p:tags r:id="rId3"/>
            </p:custDataLst>
          </p:nvPr>
        </p:nvSpPr>
        <p:spPr>
          <a:xfrm>
            <a:off x="3760665" y="2634026"/>
            <a:ext cx="792000" cy="669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02</a:t>
            </a:r>
            <a:endParaRPr lang="en-US" altLang="zh-CN" sz="3200" b="1" dirty="0">
              <a:solidFill>
                <a:srgbClr val="404040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869180" y="2717800"/>
            <a:ext cx="34829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Modem NV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注释添加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8" name="圆角矩形 11"/>
          <p:cNvSpPr/>
          <p:nvPr>
            <p:custDataLst>
              <p:tags r:id="rId5"/>
            </p:custDataLst>
          </p:nvPr>
        </p:nvSpPr>
        <p:spPr>
          <a:xfrm>
            <a:off x="3760665" y="3482884"/>
            <a:ext cx="798287" cy="6696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03</a:t>
            </a:r>
            <a:endParaRPr lang="en-US" altLang="zh-CN" sz="3200" b="1" dirty="0">
              <a:solidFill>
                <a:srgbClr val="404040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459605" y="3239770"/>
            <a:ext cx="36302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修改</a:t>
            </a:r>
            <a:r>
              <a: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NV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的注意事项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2687427" y="1812622"/>
            <a:ext cx="581392" cy="667657"/>
          </a:xfrm>
          <a:prstGeom prst="rightArrow">
            <a:avLst>
              <a:gd name="adj1" fmla="val 50000"/>
              <a:gd name="adj2" fmla="val 53084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修改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6215" y="795655"/>
            <a:ext cx="11530965" cy="549973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Modem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文件夹布局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4EA2"/>
                </a:solidFill>
              </a:rPr>
              <a:t>展锐的</a:t>
            </a:r>
            <a:r>
              <a:rPr lang="en-US" altLang="zh-CN" dirty="0">
                <a:solidFill>
                  <a:srgbClr val="004EA2"/>
                </a:solidFill>
              </a:rPr>
              <a:t>Modem</a:t>
            </a:r>
            <a:r>
              <a:rPr lang="zh-CN" altLang="en-US" dirty="0">
                <a:solidFill>
                  <a:srgbClr val="004EA2"/>
                </a:solidFill>
              </a:rPr>
              <a:t>文件夹布局主要分为两种</a:t>
            </a: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4EA2"/>
                </a:solidFill>
              </a:rPr>
              <a:t>（</a:t>
            </a:r>
            <a:r>
              <a:rPr lang="en-US" altLang="zh-CN" dirty="0">
                <a:solidFill>
                  <a:srgbClr val="004EA2"/>
                </a:solidFill>
              </a:rPr>
              <a:t>1</a:t>
            </a:r>
            <a:r>
              <a:rPr lang="zh-CN" altLang="en-US" dirty="0">
                <a:solidFill>
                  <a:srgbClr val="004EA2"/>
                </a:solidFill>
              </a:rPr>
              <a:t>）为支持</a:t>
            </a:r>
            <a:r>
              <a:rPr lang="en-US" altLang="zh-CN" dirty="0">
                <a:solidFill>
                  <a:srgbClr val="004EA2"/>
                </a:solidFill>
              </a:rPr>
              <a:t>4G</a:t>
            </a:r>
            <a:r>
              <a:rPr lang="zh-CN" altLang="en-US" dirty="0">
                <a:solidFill>
                  <a:srgbClr val="004EA2"/>
                </a:solidFill>
              </a:rPr>
              <a:t>的项目，主要有</a:t>
            </a:r>
            <a:r>
              <a:rPr lang="en-US" altLang="zh-CN" dirty="0">
                <a:solidFill>
                  <a:srgbClr val="004EA2"/>
                </a:solidFill>
              </a:rPr>
              <a:t>9863A</a:t>
            </a:r>
            <a:r>
              <a:rPr lang="zh-CN" altLang="en-US" dirty="0">
                <a:solidFill>
                  <a:srgbClr val="004EA2"/>
                </a:solidFill>
              </a:rPr>
              <a:t>和</a:t>
            </a:r>
            <a:r>
              <a:rPr lang="en-US" altLang="zh-CN" dirty="0">
                <a:solidFill>
                  <a:srgbClr val="004EA2"/>
                </a:solidFill>
              </a:rPr>
              <a:t>T606</a:t>
            </a: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>
                <a:solidFill>
                  <a:srgbClr val="004EA2"/>
                </a:solidFill>
              </a:rPr>
              <a:t>（</a:t>
            </a:r>
            <a:r>
              <a:rPr lang="en-US" altLang="zh-CN" dirty="0">
                <a:solidFill>
                  <a:srgbClr val="004EA2"/>
                </a:solidFill>
              </a:rPr>
              <a:t>2</a:t>
            </a:r>
            <a:r>
              <a:rPr lang="zh-CN" altLang="en-US" dirty="0">
                <a:solidFill>
                  <a:srgbClr val="004EA2"/>
                </a:solidFill>
              </a:rPr>
              <a:t>）仅支持</a:t>
            </a:r>
            <a:r>
              <a:rPr lang="en-US" altLang="zh-CN" dirty="0">
                <a:solidFill>
                  <a:srgbClr val="004EA2"/>
                </a:solidFill>
              </a:rPr>
              <a:t>3G</a:t>
            </a:r>
            <a:r>
              <a:rPr lang="zh-CN" altLang="en-US" dirty="0">
                <a:solidFill>
                  <a:srgbClr val="004EA2"/>
                </a:solidFill>
              </a:rPr>
              <a:t>的项目，主要为</a:t>
            </a:r>
            <a:r>
              <a:rPr lang="en-US" altLang="zh-CN" dirty="0">
                <a:solidFill>
                  <a:srgbClr val="004EA2"/>
                </a:solidFill>
              </a:rPr>
              <a:t>7731E</a:t>
            </a: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3691890"/>
            <a:ext cx="5608955" cy="2076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955165"/>
            <a:ext cx="8410575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修改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70" y="795655"/>
            <a:ext cx="11530965" cy="549973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工具修改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sz="1400" dirty="0">
                <a:solidFill>
                  <a:srgbClr val="004EA2"/>
                </a:solidFill>
              </a:rPr>
              <a:t>根据</a:t>
            </a:r>
            <a:r>
              <a:rPr lang="en-US" altLang="zh-CN" sz="1400" dirty="0">
                <a:solidFill>
                  <a:srgbClr val="004EA2"/>
                </a:solidFill>
              </a:rPr>
              <a:t>Modem</a:t>
            </a:r>
            <a:r>
              <a:rPr lang="zh-CN" altLang="en-US" sz="1400" dirty="0">
                <a:solidFill>
                  <a:srgbClr val="004EA2"/>
                </a:solidFill>
              </a:rPr>
              <a:t>文件夹布局分成的两种，即根据平台不同工具也分为</a:t>
            </a:r>
            <a:r>
              <a:rPr lang="en-US" altLang="zh-CN" sz="1400" dirty="0">
                <a:solidFill>
                  <a:srgbClr val="004EA2"/>
                </a:solidFill>
              </a:rPr>
              <a:t>NVEditor</a:t>
            </a:r>
            <a:r>
              <a:rPr lang="zh-CN" altLang="en-US" sz="1400" dirty="0">
                <a:solidFill>
                  <a:srgbClr val="004EA2"/>
                </a:solidFill>
              </a:rPr>
              <a:t>和</a:t>
            </a:r>
            <a:r>
              <a:rPr lang="en-US" altLang="zh-CN" sz="1400" dirty="0">
                <a:solidFill>
                  <a:srgbClr val="004EA2"/>
                </a:solidFill>
              </a:rPr>
              <a:t>NVTool</a:t>
            </a:r>
            <a:r>
              <a:rPr lang="zh-CN" altLang="en-US" sz="1400" dirty="0">
                <a:solidFill>
                  <a:srgbClr val="004EA2"/>
                </a:solidFill>
              </a:rPr>
              <a:t>。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NVEditor</a:t>
            </a:r>
            <a:r>
              <a:rPr lang="zh-CN" altLang="en-US" sz="1400" dirty="0">
                <a:solidFill>
                  <a:srgbClr val="FF0000"/>
                </a:solidFill>
              </a:rPr>
              <a:t>打开的文件为</a:t>
            </a:r>
            <a:r>
              <a:rPr lang="en-US" altLang="zh-CN" sz="1400" dirty="0">
                <a:solidFill>
                  <a:srgbClr val="FF0000"/>
                </a:solidFill>
              </a:rPr>
              <a:t>*.prj</a:t>
            </a:r>
            <a:r>
              <a:rPr lang="zh-CN" altLang="en-US" sz="1400" dirty="0">
                <a:solidFill>
                  <a:srgbClr val="FF0000"/>
                </a:solidFill>
              </a:rPr>
              <a:t>的工程文件，</a:t>
            </a:r>
            <a:r>
              <a:rPr lang="en-US" altLang="zh-CN" sz="1400" dirty="0">
                <a:solidFill>
                  <a:srgbClr val="FF0000"/>
                </a:solidFill>
              </a:rPr>
              <a:t>NVTool</a:t>
            </a:r>
            <a:r>
              <a:rPr lang="zh-CN" altLang="en-US" sz="1400" dirty="0">
                <a:solidFill>
                  <a:srgbClr val="FF0000"/>
                </a:solidFill>
              </a:rPr>
              <a:t>需要打开的为</a:t>
            </a:r>
            <a:r>
              <a:rPr lang="en-US" altLang="zh-CN" sz="1400" dirty="0">
                <a:solidFill>
                  <a:srgbClr val="FF0000"/>
                </a:solidFill>
              </a:rPr>
              <a:t>RDNV/rd_nvitem.xprj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CA1"/>
                </a:solidFill>
              </a:rPr>
              <a:t>以</a:t>
            </a:r>
            <a:r>
              <a:rPr lang="en-US" altLang="zh-CN" sz="1400" dirty="0">
                <a:solidFill>
                  <a:srgbClr val="004CA1"/>
                </a:solidFill>
              </a:rPr>
              <a:t>NVTool</a:t>
            </a:r>
            <a:r>
              <a:rPr lang="zh-CN" altLang="en-US" sz="1400" dirty="0">
                <a:solidFill>
                  <a:srgbClr val="004CA1"/>
                </a:solidFill>
              </a:rPr>
              <a:t>打开后的界面为例</a:t>
            </a:r>
            <a:endParaRPr lang="zh-CN" altLang="en-US" sz="1400" dirty="0">
              <a:solidFill>
                <a:srgbClr val="004CA1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004CA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10" y="2095500"/>
            <a:ext cx="6433820" cy="4199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修改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70" y="795655"/>
            <a:ext cx="11530965" cy="549973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工具修改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sz="1400" dirty="0">
                <a:solidFill>
                  <a:srgbClr val="004EA2"/>
                </a:solidFill>
              </a:rPr>
              <a:t>根据软件需求按照工具中的路径进行修改相关配置，例如</a:t>
            </a:r>
            <a:r>
              <a:rPr lang="en-US" altLang="zh-CN" sz="1400" dirty="0">
                <a:solidFill>
                  <a:srgbClr val="004EA2"/>
                </a:solidFill>
              </a:rPr>
              <a:t>IMEI SVN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如果路径不清楚的可直接</a:t>
            </a:r>
            <a:r>
              <a:rPr lang="en-US" altLang="zh-CN" sz="1400" dirty="0">
                <a:solidFill>
                  <a:srgbClr val="004EA2"/>
                </a:solidFill>
              </a:rPr>
              <a:t>Ctrl + F</a:t>
            </a:r>
            <a:r>
              <a:rPr lang="zh-CN" altLang="en-US" sz="1400" dirty="0">
                <a:solidFill>
                  <a:srgbClr val="004EA2"/>
                </a:solidFill>
              </a:rPr>
              <a:t>直接搜索即可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10" y="1522730"/>
            <a:ext cx="6290945" cy="4090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修改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70" y="795655"/>
            <a:ext cx="11530965" cy="569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工具修改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sz="1400" dirty="0">
                <a:solidFill>
                  <a:srgbClr val="004EA2"/>
                </a:solidFill>
              </a:rPr>
              <a:t>常见的</a:t>
            </a:r>
            <a:r>
              <a:rPr lang="en-US" altLang="zh-CN" sz="1400" dirty="0">
                <a:solidFill>
                  <a:srgbClr val="004EA2"/>
                </a:solidFill>
              </a:rPr>
              <a:t>Operator NV</a:t>
            </a:r>
            <a:r>
              <a:rPr lang="zh-CN" altLang="en-US" sz="1400" dirty="0">
                <a:solidFill>
                  <a:srgbClr val="004EA2"/>
                </a:solidFill>
              </a:rPr>
              <a:t>修改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同样的根据软件需求进行修改具体运营商的</a:t>
            </a:r>
            <a:r>
              <a:rPr lang="en-US" altLang="zh-CN" sz="1400" dirty="0">
                <a:solidFill>
                  <a:srgbClr val="004EA2"/>
                </a:solidFill>
              </a:rPr>
              <a:t>NV</a:t>
            </a:r>
            <a:r>
              <a:rPr lang="zh-CN" altLang="en-US" sz="1400" dirty="0">
                <a:solidFill>
                  <a:srgbClr val="004EA2"/>
                </a:solidFill>
              </a:rPr>
              <a:t>配置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88135"/>
            <a:ext cx="7136130" cy="9582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872105"/>
            <a:ext cx="6396990" cy="3620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修改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70" y="795655"/>
            <a:ext cx="11530965" cy="569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工具修改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修改完</a:t>
            </a:r>
            <a:r>
              <a:rPr lang="en-US" altLang="zh-CN" sz="1400" dirty="0">
                <a:solidFill>
                  <a:srgbClr val="004EA2"/>
                </a:solidFill>
              </a:rPr>
              <a:t>NV</a:t>
            </a:r>
            <a:r>
              <a:rPr lang="zh-CN" altLang="en-US" sz="1400" dirty="0">
                <a:solidFill>
                  <a:srgbClr val="004EA2"/>
                </a:solidFill>
              </a:rPr>
              <a:t>后，在</a:t>
            </a:r>
            <a:r>
              <a:rPr lang="en-US" altLang="zh-CN" sz="1400" dirty="0">
                <a:solidFill>
                  <a:srgbClr val="004EA2"/>
                </a:solidFill>
              </a:rPr>
              <a:t>Operator NV</a:t>
            </a:r>
            <a:r>
              <a:rPr lang="zh-CN" altLang="en-US" sz="1400" dirty="0">
                <a:solidFill>
                  <a:srgbClr val="004EA2"/>
                </a:solidFill>
              </a:rPr>
              <a:t>中点击</a:t>
            </a:r>
            <a:r>
              <a:rPr lang="en-US" altLang="zh-CN" sz="1400" dirty="0">
                <a:solidFill>
                  <a:srgbClr val="004EA2"/>
                </a:solidFill>
              </a:rPr>
              <a:t>Save</a:t>
            </a:r>
            <a:r>
              <a:rPr lang="zh-CN" altLang="en-US" sz="1400" dirty="0">
                <a:solidFill>
                  <a:srgbClr val="004EA2"/>
                </a:solidFill>
              </a:rPr>
              <a:t>保存并在主界面点击</a:t>
            </a:r>
            <a:r>
              <a:rPr lang="en-US" altLang="zh-CN" sz="1400" dirty="0">
                <a:solidFill>
                  <a:srgbClr val="004EA2"/>
                </a:solidFill>
              </a:rPr>
              <a:t>Save Project</a:t>
            </a:r>
            <a:r>
              <a:rPr lang="zh-CN" altLang="en-US" sz="1400" dirty="0">
                <a:solidFill>
                  <a:srgbClr val="004EA2"/>
                </a:solidFill>
              </a:rPr>
              <a:t>进行保存工程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70" y="1453515"/>
            <a:ext cx="6186805" cy="35007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" y="5079365"/>
            <a:ext cx="3947160" cy="1252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31"/>
          <p:cNvSpPr/>
          <p:nvPr/>
        </p:nvSpPr>
        <p:spPr>
          <a:xfrm>
            <a:off x="4753151" y="3484827"/>
            <a:ext cx="4460726" cy="6676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zh-CN" altLang="en-US" b="1" dirty="0">
              <a:solidFill>
                <a:schemeClr val="tx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2" name="圆角矩形 31"/>
          <p:cNvSpPr/>
          <p:nvPr/>
        </p:nvSpPr>
        <p:spPr>
          <a:xfrm>
            <a:off x="4753151" y="2641665"/>
            <a:ext cx="4460726" cy="66765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bg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en-US" altLang="zh-CN" b="1" dirty="0">
              <a:solidFill>
                <a:schemeClr val="bg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3" name="圆角矩形 31"/>
          <p:cNvSpPr/>
          <p:nvPr/>
        </p:nvSpPr>
        <p:spPr>
          <a:xfrm>
            <a:off x="4753151" y="1791958"/>
            <a:ext cx="4460726" cy="6676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en-US" altLang="zh-CN" b="1" dirty="0">
              <a:solidFill>
                <a:schemeClr val="tx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4" name="圆角矩形 11"/>
          <p:cNvSpPr/>
          <p:nvPr>
            <p:custDataLst>
              <p:tags r:id="rId1"/>
            </p:custDataLst>
          </p:nvPr>
        </p:nvSpPr>
        <p:spPr>
          <a:xfrm>
            <a:off x="3760665" y="1810679"/>
            <a:ext cx="798287" cy="6696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01</a:t>
            </a:r>
            <a:endParaRPr lang="en-US" altLang="zh-CN" sz="32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4869317" y="1864177"/>
            <a:ext cx="307739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Modem NV</a:t>
            </a:r>
            <a:r>
              <a:rPr kumimoji="1" lang="zh-CN" altLang="en-US" sz="28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修改</a:t>
            </a:r>
            <a:endParaRPr kumimoji="1" lang="zh-CN" altLang="en-US" sz="28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6" name="圆角矩形 11"/>
          <p:cNvSpPr/>
          <p:nvPr>
            <p:custDataLst>
              <p:tags r:id="rId3"/>
            </p:custDataLst>
          </p:nvPr>
        </p:nvSpPr>
        <p:spPr>
          <a:xfrm>
            <a:off x="3760665" y="2634026"/>
            <a:ext cx="792000" cy="669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02</a:t>
            </a:r>
            <a:endParaRPr lang="en-US" altLang="zh-CN" sz="32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869180" y="2717800"/>
            <a:ext cx="3491230" cy="52197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Modem NV</a:t>
            </a: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注释添加</a:t>
            </a:r>
            <a:endParaRPr kumimoji="1" lang="zh-CN" altLang="en-US" sz="28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ea"/>
            </a:endParaRPr>
          </a:p>
        </p:txBody>
      </p:sp>
      <p:sp>
        <p:nvSpPr>
          <p:cNvPr id="18" name="圆角矩形 11"/>
          <p:cNvSpPr/>
          <p:nvPr>
            <p:custDataLst>
              <p:tags r:id="rId5"/>
            </p:custDataLst>
          </p:nvPr>
        </p:nvSpPr>
        <p:spPr>
          <a:xfrm>
            <a:off x="3760665" y="3482884"/>
            <a:ext cx="798287" cy="6696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rgbClr val="404040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03</a:t>
            </a:r>
            <a:endParaRPr lang="en-US" altLang="zh-CN" sz="3200" b="1" dirty="0">
              <a:solidFill>
                <a:srgbClr val="404040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459605" y="3239770"/>
            <a:ext cx="363029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修改</a:t>
            </a:r>
            <a:r>
              <a:rPr kumimoji="1"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NV</a:t>
            </a:r>
            <a:r>
              <a:rPr kumimoji="1"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的注意事项</a:t>
            </a:r>
            <a:endParaRPr kumimoji="1"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2687427" y="2641297"/>
            <a:ext cx="581392" cy="667657"/>
          </a:xfrm>
          <a:prstGeom prst="rightArrow">
            <a:avLst>
              <a:gd name="adj1" fmla="val 50000"/>
              <a:gd name="adj2" fmla="val 53084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注释添加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4470" y="795655"/>
            <a:ext cx="11530965" cy="569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修改注释的添加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4EA2"/>
                </a:solidFill>
              </a:rPr>
              <a:t>      </a:t>
            </a:r>
            <a:r>
              <a:rPr lang="zh-CN" altLang="en-US" sz="1400" dirty="0">
                <a:solidFill>
                  <a:srgbClr val="004EA2"/>
                </a:solidFill>
              </a:rPr>
              <a:t>由于展锐的</a:t>
            </a:r>
            <a:r>
              <a:rPr lang="en-US" altLang="zh-CN" sz="1400" dirty="0">
                <a:solidFill>
                  <a:srgbClr val="004EA2"/>
                </a:solidFill>
              </a:rPr>
              <a:t>Operator NV</a:t>
            </a:r>
            <a:r>
              <a:rPr lang="zh-CN" altLang="en-US" sz="1400" dirty="0">
                <a:solidFill>
                  <a:srgbClr val="004EA2"/>
                </a:solidFill>
              </a:rPr>
              <a:t>修改需要运营商文档以及验证</a:t>
            </a:r>
            <a:r>
              <a:rPr lang="en-US" altLang="zh-CN" sz="1400" dirty="0">
                <a:solidFill>
                  <a:srgbClr val="004EA2"/>
                </a:solidFill>
              </a:rPr>
              <a:t>pass</a:t>
            </a:r>
            <a:r>
              <a:rPr lang="zh-CN" altLang="en-US" sz="1400" dirty="0">
                <a:solidFill>
                  <a:srgbClr val="004EA2"/>
                </a:solidFill>
              </a:rPr>
              <a:t>的</a:t>
            </a:r>
            <a:r>
              <a:rPr lang="en-US" altLang="zh-CN" sz="1400" dirty="0">
                <a:solidFill>
                  <a:srgbClr val="004EA2"/>
                </a:solidFill>
              </a:rPr>
              <a:t>log</a:t>
            </a:r>
            <a:r>
              <a:rPr lang="zh-CN" altLang="en-US" sz="1400" dirty="0">
                <a:solidFill>
                  <a:srgbClr val="004EA2"/>
                </a:solidFill>
              </a:rPr>
              <a:t>才会合入正式版本，且会有测试周期，针对客制化的内容我们一般都是自行进行维护，此时需要添加注释，防止后续更新</a:t>
            </a:r>
            <a:r>
              <a:rPr lang="en-US" altLang="zh-CN" sz="1400" dirty="0">
                <a:solidFill>
                  <a:srgbClr val="004EA2"/>
                </a:solidFill>
              </a:rPr>
              <a:t>Modem</a:t>
            </a:r>
            <a:r>
              <a:rPr lang="zh-CN" altLang="en-US" sz="1400" dirty="0">
                <a:solidFill>
                  <a:srgbClr val="004EA2"/>
                </a:solidFill>
              </a:rPr>
              <a:t>版本时被覆盖。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（</a:t>
            </a:r>
            <a:r>
              <a:rPr lang="en-US" altLang="zh-CN" sz="1400" dirty="0">
                <a:solidFill>
                  <a:srgbClr val="004EA2"/>
                </a:solidFill>
              </a:rPr>
              <a:t>1</a:t>
            </a:r>
            <a:r>
              <a:rPr lang="zh-CN" altLang="en-US" sz="1400" dirty="0">
                <a:solidFill>
                  <a:srgbClr val="004EA2"/>
                </a:solidFill>
              </a:rPr>
              <a:t>）第一次修改某个</a:t>
            </a:r>
            <a:r>
              <a:rPr lang="en-US" altLang="zh-CN" sz="1400" dirty="0">
                <a:solidFill>
                  <a:srgbClr val="004EA2"/>
                </a:solidFill>
              </a:rPr>
              <a:t>Operator NV</a:t>
            </a:r>
            <a:r>
              <a:rPr lang="zh-CN" altLang="en-US" sz="1400" dirty="0">
                <a:solidFill>
                  <a:srgbClr val="004EA2"/>
                </a:solidFill>
              </a:rPr>
              <a:t>且内容较少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可以看到其修改内容如上，此时我们使用文本工具打开此</a:t>
            </a:r>
            <a:r>
              <a:rPr lang="en-US" altLang="zh-CN" sz="1400" dirty="0">
                <a:solidFill>
                  <a:srgbClr val="004EA2"/>
                </a:solidFill>
              </a:rPr>
              <a:t>nv</a:t>
            </a:r>
            <a:r>
              <a:rPr lang="zh-CN" altLang="en-US" sz="1400" dirty="0">
                <a:solidFill>
                  <a:srgbClr val="004EA2"/>
                </a:solidFill>
              </a:rPr>
              <a:t>文件，在修改内容附近添加注释即可。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995805"/>
            <a:ext cx="9174480" cy="20402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311650"/>
            <a:ext cx="8980805" cy="2181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注释添加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240" y="795655"/>
            <a:ext cx="11530965" cy="569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修改注释的添加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（</a:t>
            </a:r>
            <a:r>
              <a:rPr lang="en-US" altLang="zh-CN" sz="1400" dirty="0">
                <a:solidFill>
                  <a:srgbClr val="004EA2"/>
                </a:solidFill>
              </a:rPr>
              <a:t>2</a:t>
            </a:r>
            <a:r>
              <a:rPr lang="zh-CN" altLang="en-US" sz="1400" dirty="0">
                <a:solidFill>
                  <a:srgbClr val="004EA2"/>
                </a:solidFill>
              </a:rPr>
              <a:t>）第一次修改某个</a:t>
            </a:r>
            <a:r>
              <a:rPr lang="en-US" altLang="zh-CN" sz="1400" dirty="0">
                <a:solidFill>
                  <a:srgbClr val="004EA2"/>
                </a:solidFill>
              </a:rPr>
              <a:t>Operator NV</a:t>
            </a:r>
            <a:r>
              <a:rPr lang="zh-CN" altLang="en-US" sz="1400" dirty="0">
                <a:solidFill>
                  <a:srgbClr val="004EA2"/>
                </a:solidFill>
              </a:rPr>
              <a:t>且内容较</a:t>
            </a:r>
            <a:r>
              <a:rPr lang="zh-CN" sz="1400" dirty="0">
                <a:solidFill>
                  <a:srgbClr val="004EA2"/>
                </a:solidFill>
              </a:rPr>
              <a:t>多，涉及到多行</a:t>
            </a:r>
            <a:endParaRPr 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按照目前的要求来，需要将修改的</a:t>
            </a:r>
            <a:r>
              <a:rPr lang="en-US" altLang="zh-CN" sz="1400" dirty="0">
                <a:solidFill>
                  <a:srgbClr val="004EA2"/>
                </a:solidFill>
              </a:rPr>
              <a:t>NV Item</a:t>
            </a:r>
            <a:r>
              <a:rPr lang="zh-CN" altLang="en-US" sz="1400" dirty="0">
                <a:solidFill>
                  <a:srgbClr val="004EA2"/>
                </a:solidFill>
              </a:rPr>
              <a:t>放在一起，并添加注释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4EA2"/>
                </a:solidFill>
              </a:rPr>
              <a:t>								 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注：内容均用于演示</a:t>
            </a:r>
            <a:endParaRPr lang="en-US" altLang="zh-CN" sz="1400" dirty="0">
              <a:solidFill>
                <a:srgbClr val="004EA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487805"/>
            <a:ext cx="6903720" cy="22847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4173220"/>
            <a:ext cx="7277735" cy="2319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注释添加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240" y="795655"/>
            <a:ext cx="11530965" cy="569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修改注释的添加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（</a:t>
            </a:r>
            <a:r>
              <a:rPr lang="en-US" altLang="zh-CN" sz="1400" dirty="0">
                <a:solidFill>
                  <a:srgbClr val="004EA2"/>
                </a:solidFill>
              </a:rPr>
              <a:t>3</a:t>
            </a:r>
            <a:r>
              <a:rPr lang="zh-CN" altLang="en-US" sz="1400" dirty="0">
                <a:solidFill>
                  <a:srgbClr val="004EA2"/>
                </a:solidFill>
              </a:rPr>
              <a:t>）某个</a:t>
            </a:r>
            <a:r>
              <a:rPr lang="en-US" altLang="zh-CN" sz="1400" dirty="0">
                <a:solidFill>
                  <a:srgbClr val="004EA2"/>
                </a:solidFill>
              </a:rPr>
              <a:t>Operator NV</a:t>
            </a:r>
            <a:r>
              <a:rPr lang="zh-CN" altLang="en-US" sz="1400" dirty="0">
                <a:solidFill>
                  <a:srgbClr val="004EA2"/>
                </a:solidFill>
              </a:rPr>
              <a:t>多次修改，且已有注释</a:t>
            </a:r>
            <a:endParaRPr 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4EA2"/>
                </a:solidFill>
              </a:rPr>
              <a:t>								</a:t>
            </a:r>
            <a:endParaRPr lang="en-US" altLang="zh-CN" dirty="0">
              <a:solidFill>
                <a:srgbClr val="004EA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70" y="1510030"/>
            <a:ext cx="8345170" cy="47694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注释添加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240" y="795655"/>
            <a:ext cx="11530965" cy="569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修改注释的添加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（</a:t>
            </a:r>
            <a:r>
              <a:rPr lang="en-US" altLang="zh-CN" sz="1400" dirty="0">
                <a:solidFill>
                  <a:srgbClr val="004EA2"/>
                </a:solidFill>
              </a:rPr>
              <a:t>3</a:t>
            </a:r>
            <a:r>
              <a:rPr lang="zh-CN" altLang="en-US" sz="1400" dirty="0">
                <a:solidFill>
                  <a:srgbClr val="004EA2"/>
                </a:solidFill>
              </a:rPr>
              <a:t>）某个</a:t>
            </a:r>
            <a:r>
              <a:rPr lang="en-US" altLang="zh-CN" sz="1400" dirty="0">
                <a:solidFill>
                  <a:srgbClr val="004EA2"/>
                </a:solidFill>
              </a:rPr>
              <a:t>Operator NV</a:t>
            </a:r>
            <a:r>
              <a:rPr lang="zh-CN" altLang="en-US" sz="1400" dirty="0">
                <a:solidFill>
                  <a:srgbClr val="004EA2"/>
                </a:solidFill>
              </a:rPr>
              <a:t>多次修改，且已有注释</a:t>
            </a:r>
            <a:endParaRPr 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sz="1400" dirty="0">
                <a:solidFill>
                  <a:srgbClr val="004EA2"/>
                </a:solidFill>
              </a:rPr>
              <a:t>由于</a:t>
            </a:r>
            <a:r>
              <a:rPr sz="1400" dirty="0">
                <a:solidFill>
                  <a:srgbClr val="004EA2"/>
                </a:solidFill>
              </a:rPr>
              <a:t>运营商NV保存时，会同步保存delta nv 和NV工程</a:t>
            </a:r>
            <a:r>
              <a:rPr lang="zh-CN" sz="1400" dirty="0">
                <a:solidFill>
                  <a:srgbClr val="004EA2"/>
                </a:solidFill>
              </a:rPr>
              <a:t>，</a:t>
            </a:r>
            <a:r>
              <a:rPr sz="1400" dirty="0">
                <a:solidFill>
                  <a:srgbClr val="004EA2"/>
                </a:solidFill>
              </a:rPr>
              <a:t>保存delta nv时，工具会做去重处理，同时结合default.nv的顺序进行保存</a:t>
            </a:r>
            <a:r>
              <a:rPr lang="zh-CN" sz="1400" dirty="0">
                <a:solidFill>
                  <a:srgbClr val="004EA2"/>
                </a:solidFill>
              </a:rPr>
              <a:t>。</a:t>
            </a:r>
            <a:endParaRPr 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sz="1400" dirty="0">
                <a:solidFill>
                  <a:srgbClr val="004EA2"/>
                </a:solidFill>
              </a:rPr>
              <a:t>所以之前修改的顺序以及注释都会被移除（</a:t>
            </a:r>
            <a:r>
              <a:rPr lang="zh-CN" sz="1400" dirty="0">
                <a:solidFill>
                  <a:srgbClr val="FF0000"/>
                </a:solidFill>
              </a:rPr>
              <a:t>展锐新工具可以支持不删除注释，但顺序依然会被调整，不建议使用</a:t>
            </a:r>
            <a:r>
              <a:rPr lang="zh-CN" sz="1400" dirty="0">
                <a:solidFill>
                  <a:srgbClr val="004EA2"/>
                </a:solidFill>
              </a:rPr>
              <a:t>）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将原有修改的注释还原并调整好顺序，再添加自己修改内容注释即可，可参考上图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提交时其他文件也会被修改，只需提交自己修改的</a:t>
            </a:r>
            <a:r>
              <a:rPr lang="en-US" altLang="zh-CN" sz="1400" dirty="0">
                <a:solidFill>
                  <a:srgbClr val="004EA2"/>
                </a:solidFill>
              </a:rPr>
              <a:t>NV</a:t>
            </a:r>
            <a:r>
              <a:rPr lang="zh-CN" altLang="en-US" sz="1400" dirty="0">
                <a:solidFill>
                  <a:srgbClr val="004EA2"/>
                </a:solidFill>
              </a:rPr>
              <a:t>文件以及保存生成的</a:t>
            </a:r>
            <a:r>
              <a:rPr lang="en-US" altLang="zh-CN" sz="1400" dirty="0">
                <a:solidFill>
                  <a:srgbClr val="004EA2"/>
                </a:solidFill>
              </a:rPr>
              <a:t>bin</a:t>
            </a:r>
            <a:r>
              <a:rPr lang="zh-CN" altLang="en-US" sz="1400" dirty="0">
                <a:solidFill>
                  <a:srgbClr val="004EA2"/>
                </a:solidFill>
              </a:rPr>
              <a:t>文件即可。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若合入了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Modem bin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文件自动生成脚本，可只提交自己修改的文件，如下方只提交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SA_STC.nv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文件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可参考以下提交内容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4EA2"/>
                </a:solidFill>
              </a:rPr>
              <a:t>								</a:t>
            </a:r>
            <a:endParaRPr lang="en-US" altLang="zh-CN" dirty="0">
              <a:solidFill>
                <a:srgbClr val="004EA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" y="2105025"/>
            <a:ext cx="11418570" cy="1901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" y="5396865"/>
            <a:ext cx="11292205" cy="10960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Modem NV</a:t>
            </a:r>
            <a:r>
              <a:rPr lang="zh-CN" altLang="en-US" dirty="0"/>
              <a:t>注释添加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240" y="795655"/>
            <a:ext cx="11530965" cy="569722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、</a:t>
            </a:r>
            <a:r>
              <a:rPr 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NV</a:t>
            </a:r>
            <a:r>
              <a:rPr lang="zh-CN" altLang="en-US" sz="2000" b="1" dirty="0">
                <a:solidFill>
                  <a:srgbClr val="004EA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修改注释的添加</a:t>
            </a:r>
            <a:endParaRPr lang="zh-CN" altLang="en-US" sz="2000" b="1" dirty="0">
              <a:solidFill>
                <a:srgbClr val="004EA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sz="1400" dirty="0">
                <a:solidFill>
                  <a:srgbClr val="004EA2"/>
                </a:solidFill>
              </a:rPr>
              <a:t>总结说明：</a:t>
            </a:r>
            <a:endParaRPr 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4EA2"/>
                </a:solidFill>
              </a:rPr>
              <a:t>1</a:t>
            </a:r>
            <a:r>
              <a:rPr lang="zh-CN" altLang="en-US" sz="1400" dirty="0">
                <a:solidFill>
                  <a:srgbClr val="004EA2"/>
                </a:solidFill>
              </a:rPr>
              <a:t>、首先使用</a:t>
            </a:r>
            <a:r>
              <a:rPr lang="en-US" altLang="zh-CN" sz="1400" dirty="0">
                <a:solidFill>
                  <a:srgbClr val="004EA2"/>
                </a:solidFill>
              </a:rPr>
              <a:t>NVTool</a:t>
            </a:r>
            <a:r>
              <a:rPr lang="zh-CN" altLang="en-US" sz="1400" dirty="0">
                <a:solidFill>
                  <a:srgbClr val="004EA2"/>
                </a:solidFill>
              </a:rPr>
              <a:t>或者</a:t>
            </a:r>
            <a:r>
              <a:rPr lang="en-US" altLang="zh-CN" sz="1400" dirty="0">
                <a:solidFill>
                  <a:srgbClr val="004EA2"/>
                </a:solidFill>
              </a:rPr>
              <a:t>NVEditor</a:t>
            </a:r>
            <a:r>
              <a:rPr lang="zh-CN" altLang="en-US" sz="1400" dirty="0">
                <a:solidFill>
                  <a:srgbClr val="004EA2"/>
                </a:solidFill>
              </a:rPr>
              <a:t>工具打开并修改相关配置项，进行保存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4EA2"/>
                </a:solidFill>
              </a:rPr>
              <a:t>2</a:t>
            </a:r>
            <a:r>
              <a:rPr lang="zh-CN" altLang="en-US" sz="1400" dirty="0">
                <a:solidFill>
                  <a:srgbClr val="004EA2"/>
                </a:solidFill>
              </a:rPr>
              <a:t>、使用</a:t>
            </a:r>
            <a:r>
              <a:rPr lang="en-US" altLang="zh-CN" sz="1400" dirty="0">
                <a:solidFill>
                  <a:srgbClr val="004EA2"/>
                </a:solidFill>
              </a:rPr>
              <a:t>git</a:t>
            </a:r>
            <a:r>
              <a:rPr lang="zh-CN" altLang="en-US" sz="1400" dirty="0">
                <a:solidFill>
                  <a:srgbClr val="004EA2"/>
                </a:solidFill>
              </a:rPr>
              <a:t>命令查看修改是否符合预期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4EA2"/>
                </a:solidFill>
              </a:rPr>
              <a:t>3</a:t>
            </a:r>
            <a:r>
              <a:rPr lang="zh-CN" altLang="en-US" sz="1400" dirty="0">
                <a:solidFill>
                  <a:srgbClr val="004EA2"/>
                </a:solidFill>
              </a:rPr>
              <a:t>、若没有注释被清除或者顺序被调整的情况，则直接用文本工具打开，在修改的配置上下添加注释；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004EA2"/>
                </a:solidFill>
              </a:rPr>
              <a:t>若有之前的配置项被清除或者顺序调整，则用文本工具打开后，先还原修改，再在修改的配置上下添加注释。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4EA2"/>
                </a:solidFill>
              </a:rPr>
              <a:t>4</a:t>
            </a:r>
            <a:r>
              <a:rPr lang="zh-CN" altLang="en-US" sz="1400" dirty="0">
                <a:solidFill>
                  <a:srgbClr val="004EA2"/>
                </a:solidFill>
              </a:rPr>
              <a:t>、提交时提交自己修改的文件以及保存的</a:t>
            </a:r>
            <a:r>
              <a:rPr lang="en-US" altLang="zh-CN" sz="1400" dirty="0">
                <a:solidFill>
                  <a:srgbClr val="004EA2"/>
                </a:solidFill>
              </a:rPr>
              <a:t>bin</a:t>
            </a:r>
            <a:r>
              <a:rPr lang="zh-CN" altLang="en-US" sz="1400" dirty="0">
                <a:solidFill>
                  <a:srgbClr val="004EA2"/>
                </a:solidFill>
              </a:rPr>
              <a:t>文件即可（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若合入了</a:t>
            </a:r>
            <a:r>
              <a:rPr lang="en-US" altLang="zh-CN" sz="1400" dirty="0">
                <a:solidFill>
                  <a:srgbClr val="FF0000"/>
                </a:solidFill>
                <a:sym typeface="+mn-ea"/>
              </a:rPr>
              <a:t>Modem bin</a:t>
            </a:r>
            <a:r>
              <a:rPr lang="zh-CN" altLang="en-US" sz="1400" dirty="0">
                <a:solidFill>
                  <a:srgbClr val="FF0000"/>
                </a:solidFill>
                <a:sym typeface="+mn-ea"/>
              </a:rPr>
              <a:t>文件自动生成脚本，可只提交自己修改的文件</a:t>
            </a:r>
            <a:r>
              <a:rPr lang="zh-CN" altLang="en-US" sz="1400" dirty="0">
                <a:solidFill>
                  <a:srgbClr val="004EA2"/>
                </a:solidFill>
              </a:rPr>
              <a:t>）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endParaRPr lang="zh-CN" alt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FF0000"/>
                </a:solidFill>
              </a:rPr>
              <a:t>必要性：</a:t>
            </a:r>
            <a:endParaRPr lang="zh-CN" alt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4EA2"/>
                </a:solidFill>
              </a:rPr>
              <a:t>1</a:t>
            </a:r>
            <a:r>
              <a:rPr lang="zh-CN" altLang="en-US" sz="1400" dirty="0">
                <a:solidFill>
                  <a:srgbClr val="004EA2"/>
                </a:solidFill>
              </a:rPr>
              <a:t>、使用工具修改可以保证</a:t>
            </a:r>
            <a:r>
              <a:rPr lang="en-US" altLang="zh-CN" sz="1400" dirty="0">
                <a:solidFill>
                  <a:srgbClr val="004EA2"/>
                </a:solidFill>
              </a:rPr>
              <a:t>NVItem</a:t>
            </a:r>
            <a:r>
              <a:rPr lang="zh-CN" altLang="en-US" sz="1400" dirty="0">
                <a:solidFill>
                  <a:srgbClr val="004EA2"/>
                </a:solidFill>
              </a:rPr>
              <a:t>配置修改的正确性</a:t>
            </a:r>
            <a:endParaRPr lang="zh-CN" altLang="en-US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sz="1400" dirty="0">
                <a:solidFill>
                  <a:srgbClr val="004EA2"/>
                </a:solidFill>
              </a:rPr>
              <a:t>2</a:t>
            </a:r>
            <a:r>
              <a:rPr lang="zh-CN" altLang="en-US" sz="1400" dirty="0">
                <a:solidFill>
                  <a:srgbClr val="004EA2"/>
                </a:solidFill>
              </a:rPr>
              <a:t>、添加注释可以防止内部修改在</a:t>
            </a:r>
            <a:r>
              <a:rPr lang="en-US" altLang="zh-CN" sz="1400" dirty="0">
                <a:solidFill>
                  <a:srgbClr val="004EA2"/>
                </a:solidFill>
              </a:rPr>
              <a:t>Modem</a:t>
            </a:r>
            <a:r>
              <a:rPr lang="zh-CN" altLang="en-US" sz="1400" dirty="0">
                <a:solidFill>
                  <a:srgbClr val="004EA2"/>
                </a:solidFill>
              </a:rPr>
              <a:t>版本更新时被覆盖</a:t>
            </a:r>
            <a:endParaRPr lang="en-US" altLang="zh-CN" sz="1400" dirty="0">
              <a:solidFill>
                <a:srgbClr val="004EA2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4EA2"/>
                </a:solidFill>
              </a:rPr>
              <a:t>								</a:t>
            </a:r>
            <a:endParaRPr lang="en-US" altLang="zh-CN" dirty="0">
              <a:solidFill>
                <a:srgbClr val="004EA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31"/>
          <p:cNvSpPr/>
          <p:nvPr/>
        </p:nvSpPr>
        <p:spPr>
          <a:xfrm>
            <a:off x="4753151" y="3484827"/>
            <a:ext cx="4460726" cy="66765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bg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en-US" altLang="zh-CN" b="1" dirty="0">
              <a:solidFill>
                <a:schemeClr val="bg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2" name="圆角矩形 31"/>
          <p:cNvSpPr/>
          <p:nvPr/>
        </p:nvSpPr>
        <p:spPr>
          <a:xfrm>
            <a:off x="4753151" y="2641665"/>
            <a:ext cx="4460726" cy="6676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bg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en-US" altLang="zh-CN" b="1" dirty="0">
              <a:solidFill>
                <a:schemeClr val="bg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3" name="圆角矩形 31"/>
          <p:cNvSpPr/>
          <p:nvPr/>
        </p:nvSpPr>
        <p:spPr>
          <a:xfrm>
            <a:off x="4753151" y="1791958"/>
            <a:ext cx="4460726" cy="66765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88900" dir="4800000" sx="102000" sy="102000" algn="t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/>
            <a:r>
              <a:rPr lang="en-US" altLang="zh-CN" b="1" dirty="0">
                <a:solidFill>
                  <a:schemeClr val="tx1">
                    <a:alpha val="40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  </a:t>
            </a:r>
            <a:endParaRPr lang="en-US" altLang="zh-CN" b="1" dirty="0">
              <a:solidFill>
                <a:schemeClr val="tx1">
                  <a:alpha val="40000"/>
                </a:schemeClr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4" name="圆角矩形 11"/>
          <p:cNvSpPr/>
          <p:nvPr>
            <p:custDataLst>
              <p:tags r:id="rId1"/>
            </p:custDataLst>
          </p:nvPr>
        </p:nvSpPr>
        <p:spPr>
          <a:xfrm>
            <a:off x="3760665" y="1810679"/>
            <a:ext cx="798287" cy="6696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01</a:t>
            </a:r>
            <a:endParaRPr lang="en-US" altLang="zh-CN" sz="32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4869317" y="1864177"/>
            <a:ext cx="307739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Modem NV</a:t>
            </a:r>
            <a:r>
              <a:rPr kumimoji="1" lang="zh-CN" altLang="en-US" sz="28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修改</a:t>
            </a:r>
            <a:endParaRPr kumimoji="1" lang="zh-CN" altLang="en-US" sz="28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6" name="圆角矩形 11"/>
          <p:cNvSpPr/>
          <p:nvPr>
            <p:custDataLst>
              <p:tags r:id="rId3"/>
            </p:custDataLst>
          </p:nvPr>
        </p:nvSpPr>
        <p:spPr>
          <a:xfrm>
            <a:off x="3760665" y="2634026"/>
            <a:ext cx="792000" cy="6696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02</a:t>
            </a:r>
            <a:endParaRPr lang="en-US" altLang="zh-CN" sz="32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4869180" y="2717800"/>
            <a:ext cx="3625850" cy="5219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Modem NV</a:t>
            </a:r>
            <a:r>
              <a:rPr kumimoji="1" lang="zh-CN" altLang="en-US" sz="2800" b="1" dirty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注释添加</a:t>
            </a:r>
            <a:endParaRPr kumimoji="1" lang="zh-CN" altLang="en-US" sz="2800" b="1" dirty="0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ea"/>
            </a:endParaRPr>
          </a:p>
        </p:txBody>
      </p:sp>
      <p:sp>
        <p:nvSpPr>
          <p:cNvPr id="18" name="圆角矩形 11"/>
          <p:cNvSpPr/>
          <p:nvPr>
            <p:custDataLst>
              <p:tags r:id="rId5"/>
            </p:custDataLst>
          </p:nvPr>
        </p:nvSpPr>
        <p:spPr>
          <a:xfrm>
            <a:off x="3760665" y="3482884"/>
            <a:ext cx="798287" cy="669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50800" dist="38100" dir="2700000" sx="102000" sy="102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lt"/>
              </a:rPr>
              <a:t>03</a:t>
            </a:r>
            <a:endParaRPr lang="en-US" altLang="zh-CN" sz="32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4752975" y="3199130"/>
            <a:ext cx="32315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None/>
            </a:pP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修改</a:t>
            </a:r>
            <a:r>
              <a:rPr kumimoji="1" lang="en-US" altLang="zh-CN" sz="28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NV</a:t>
            </a:r>
            <a:r>
              <a:rPr kumimoji="1" lang="zh-CN" altLang="en-US" sz="2800" b="1" dirty="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cs typeface="+mn-ea"/>
                <a:sym typeface="+mn-ea"/>
              </a:rPr>
              <a:t>的注意事项</a:t>
            </a:r>
            <a:endParaRPr kumimoji="1" lang="zh-CN" altLang="en-US" sz="2800" b="1" dirty="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  <a:cs typeface="+mn-ea"/>
              <a:sym typeface="+mn-ea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2763627" y="3482672"/>
            <a:ext cx="581392" cy="667657"/>
          </a:xfrm>
          <a:prstGeom prst="rightArrow">
            <a:avLst>
              <a:gd name="adj1" fmla="val 50000"/>
              <a:gd name="adj2" fmla="val 53084"/>
            </a:avLst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修改</a:t>
            </a:r>
            <a:r>
              <a:rPr lang="en-US" altLang="zh-CN"/>
              <a:t>NV</a:t>
            </a:r>
            <a:r>
              <a:rPr lang="zh-CN" altLang="en-US"/>
              <a:t>的注意事项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>
                <a:solidFill>
                  <a:srgbClr val="004CA1"/>
                </a:solidFill>
              </a:rPr>
              <a:t>1</a:t>
            </a:r>
            <a:r>
              <a:rPr lang="zh-CN" altLang="en-US">
                <a:solidFill>
                  <a:srgbClr val="004CA1"/>
                </a:solidFill>
              </a:rPr>
              <a:t>、使用工具打开</a:t>
            </a:r>
            <a:r>
              <a:rPr lang="en-US" altLang="zh-CN">
                <a:solidFill>
                  <a:srgbClr val="004CA1"/>
                </a:solidFill>
              </a:rPr>
              <a:t>NV</a:t>
            </a:r>
            <a:r>
              <a:rPr lang="zh-CN" altLang="en-US">
                <a:solidFill>
                  <a:srgbClr val="004CA1"/>
                </a:solidFill>
              </a:rPr>
              <a:t>工程并修改后，查看</a:t>
            </a:r>
            <a:r>
              <a:rPr lang="en-US" altLang="zh-CN">
                <a:solidFill>
                  <a:srgbClr val="004CA1"/>
                </a:solidFill>
              </a:rPr>
              <a:t>git status</a:t>
            </a:r>
            <a:r>
              <a:rPr lang="zh-CN" altLang="en-US">
                <a:solidFill>
                  <a:srgbClr val="004CA1"/>
                </a:solidFill>
              </a:rPr>
              <a:t>有许多没有修改的内容</a:t>
            </a:r>
            <a:endParaRPr lang="zh-CN" altLang="en-US">
              <a:solidFill>
                <a:srgbClr val="004CA1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rgbClr val="00B050"/>
                </a:solidFill>
                <a:sym typeface="+mn-ea"/>
              </a:rPr>
              <a:t>运营商NV保存时，会同步保存delta nv 和NV工程</a:t>
            </a:r>
            <a:r>
              <a:rPr lang="zh-CN" dirty="0">
                <a:solidFill>
                  <a:srgbClr val="00B050"/>
                </a:solidFill>
                <a:sym typeface="+mn-ea"/>
              </a:rPr>
              <a:t>，</a:t>
            </a:r>
            <a:r>
              <a:rPr dirty="0">
                <a:solidFill>
                  <a:srgbClr val="00B050"/>
                </a:solidFill>
                <a:sym typeface="+mn-ea"/>
              </a:rPr>
              <a:t>保存delta nv时，工具会做去重处理，同时结合default.nv的顺序进行保存</a:t>
            </a:r>
            <a:r>
              <a:rPr lang="zh-CN" dirty="0">
                <a:solidFill>
                  <a:srgbClr val="00B050"/>
                </a:solidFill>
                <a:sym typeface="+mn-ea"/>
              </a:rPr>
              <a:t>。即工具端在保存时会自动更新内容，建议在第一次打开工程修改后按照工具的顺序进行提交，后续除客制化内容外不会有多余的内容变更。</a:t>
            </a:r>
            <a:endParaRPr lang="zh-CN" dirty="0">
              <a:solidFill>
                <a:srgbClr val="00B05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004CA1"/>
                </a:solidFill>
                <a:sym typeface="+mn-ea"/>
              </a:rPr>
              <a:t>2</a:t>
            </a:r>
            <a:r>
              <a:rPr lang="zh-CN" altLang="en-US" dirty="0">
                <a:solidFill>
                  <a:srgbClr val="004CA1"/>
                </a:solidFill>
                <a:sym typeface="+mn-ea"/>
              </a:rPr>
              <a:t>、如何防止直接使用文本工具打开</a:t>
            </a:r>
            <a:r>
              <a:rPr lang="en-US" altLang="zh-CN" dirty="0">
                <a:solidFill>
                  <a:srgbClr val="004CA1"/>
                </a:solidFill>
                <a:sym typeface="+mn-ea"/>
              </a:rPr>
              <a:t>nv</a:t>
            </a:r>
            <a:r>
              <a:rPr lang="zh-CN" altLang="en-US" dirty="0">
                <a:solidFill>
                  <a:srgbClr val="004CA1"/>
                </a:solidFill>
                <a:sym typeface="+mn-ea"/>
              </a:rPr>
              <a:t>文件进行配置</a:t>
            </a:r>
            <a:endParaRPr lang="zh-CN" altLang="en-US" dirty="0">
              <a:solidFill>
                <a:srgbClr val="004CA1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B050"/>
                </a:solidFill>
                <a:sym typeface="+mn-ea"/>
              </a:rPr>
              <a:t>在直接使用文本工具打开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NV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文件进行配置后，有可能复制错误或配置项错误，导致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NV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保存无法打开或保存，在使用文本编辑后，可单独保存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bin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文件确认配置是否存在问题。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直接使用工具修改保存避免此问题，需避免注释添加错误。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00B050"/>
                </a:solidFill>
                <a:sym typeface="+mn-ea"/>
              </a:rPr>
              <a:t>如有配置错误的情况，在打开</a:t>
            </a:r>
            <a:r>
              <a:rPr lang="en-US" altLang="zh-CN" dirty="0">
                <a:solidFill>
                  <a:srgbClr val="00B050"/>
                </a:solidFill>
                <a:sym typeface="+mn-ea"/>
              </a:rPr>
              <a:t>Operator NV</a:t>
            </a:r>
            <a:r>
              <a:rPr lang="zh-CN" altLang="en-US" dirty="0">
                <a:solidFill>
                  <a:srgbClr val="00B050"/>
                </a:solidFill>
                <a:sym typeface="+mn-ea"/>
              </a:rPr>
              <a:t>时就会出现报错提示，根据报错自行排查。</a:t>
            </a:r>
            <a:endParaRPr lang="zh-CN" altLang="en-US" dirty="0">
              <a:solidFill>
                <a:srgbClr val="00B050"/>
              </a:solidFill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3162300"/>
            <a:ext cx="538162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6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7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8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9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0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1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2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3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4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5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6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7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8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19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20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21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22.xml><?xml version="1.0" encoding="utf-8"?>
<p:tagLst xmlns:p="http://schemas.openxmlformats.org/presentationml/2006/main">
  <p:tag name="KSO_WM_DIAGRAM_VIRTUALLY_FRAME" val="{&quot;height&quot;:251.23330708661416,&quot;left&quot;:296.11535433070867,&quot;top&quot;:142.5731496062992,&quot;width&quot;:429.3867716535433}"/>
</p:tagLst>
</file>

<file path=ppt/tags/tag23.xml><?xml version="1.0" encoding="utf-8"?>
<p:tagLst xmlns:p="http://schemas.openxmlformats.org/presentationml/2006/main">
  <p:tag name="COMMONDATA" val="eyJoZGlkIjoiOTg5NjY0OTllZDhiMWZjNWViNDdiMmJiYjM1NWQzOTMifQ=="/>
  <p:tag name="KSO_WPP_MARK_KEY" val="5543176e-56ef-47a7-a93f-c066a83686a0"/>
  <p:tag name="commondata" val="eyJoZGlkIjoiMjIxY2JmNDk3NTM2YTllYTlmYTRhNTIzZWZhMmQ0ZTIifQ==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1939</Words>
  <Application>WPS Presentation</Application>
  <PresentationFormat>宽屏</PresentationFormat>
  <Paragraphs>228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SimSun</vt:lpstr>
      <vt:lpstr>Wingdings</vt:lpstr>
      <vt:lpstr>Microsoft YaHei</vt:lpstr>
      <vt:lpstr>Wingdings 2</vt:lpstr>
      <vt:lpstr>Webdings</vt:lpstr>
      <vt:lpstr>Droid Sans Fallback</vt:lpstr>
      <vt:lpstr>微软雅黑 Light</vt:lpstr>
      <vt:lpstr>OpenSymbol</vt:lpstr>
      <vt:lpstr>Wingdings</vt:lpstr>
      <vt:lpstr>Microsoft YaHei</vt:lpstr>
      <vt:lpstr>Arial Unicode MS</vt:lpstr>
      <vt:lpstr>Calibri</vt:lpstr>
      <vt:lpstr>Trebuchet MS</vt:lpstr>
      <vt:lpstr>等线</vt:lpstr>
      <vt:lpstr>Gubbi</vt:lpstr>
      <vt:lpstr>AR PL UKai CN</vt:lpstr>
      <vt:lpstr>HDOfficeLightV0</vt:lpstr>
      <vt:lpstr>1_HDOfficeLightV0</vt:lpstr>
      <vt:lpstr>PowerPoint 演示文稿</vt:lpstr>
      <vt:lpstr>PowerPoint 演示文稿</vt:lpstr>
      <vt:lpstr>Modem NV修改</vt:lpstr>
      <vt:lpstr>Modem NV修改</vt:lpstr>
      <vt:lpstr>Modem NV修改</vt:lpstr>
      <vt:lpstr>Modem NV修改</vt:lpstr>
      <vt:lpstr>Modem NV修改</vt:lpstr>
      <vt:lpstr>PowerPoint 演示文稿</vt:lpstr>
      <vt:lpstr>Modem NV注释添加</vt:lpstr>
      <vt:lpstr>Modem NV注释添加</vt:lpstr>
      <vt:lpstr>Modem NV注释添加</vt:lpstr>
      <vt:lpstr>Modem NV注释添加</vt:lpstr>
      <vt:lpstr>Modem NV注释添加</vt:lpstr>
      <vt:lpstr>PowerPoint 演示文稿</vt:lpstr>
      <vt:lpstr>修改NV的注意事项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xujiaxin</cp:lastModifiedBy>
  <cp:revision>763</cp:revision>
  <dcterms:created xsi:type="dcterms:W3CDTF">2024-05-20T01:09:48Z</dcterms:created>
  <dcterms:modified xsi:type="dcterms:W3CDTF">2024-05-20T01:09:48Z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81A5C0AC129749A79353934BCB3599A5</vt:lpwstr>
  </property>
  <property fmtid="{D5CDD505-2E9C-101B-9397-08002B2CF9AE}" pid="3" name="KSOProductBuildVer">
    <vt:lpwstr>1033-11.1.0.11711</vt:lpwstr>
  </property>
</Properties>
</file>